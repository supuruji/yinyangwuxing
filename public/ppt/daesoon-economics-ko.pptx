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103120"/>
            <a:ext cx="10332720" cy="2011680"/>
          </a:xfrm>
          <a:prstGeom prst="rect">
            <a:avLst/>
          </a:prstGeom>
          <a:noFill/>
        </p:spPr>
        <p:txBody>
          <a:bodyPr wrap="square">
            <a:spAutoFit/>
          </a:bodyPr>
          <a:lstStyle/>
          <a:p>
            <a:pPr algn="ctr"/>
            <a:r>
              <a:rPr sz="4000" b="1">
                <a:solidFill>
                  <a:srgbClr val="C9A04E"/>
                </a:solidFill>
              </a:rPr>
              <a:t>대순사상의 순환적 경제관 연구</a:t>
            </a:r>
          </a:p>
          <a:p>
            <a:pPr algn="ctr"/>
            <a:r>
              <a:rPr sz="1800">
                <a:solidFill>
                  <a:srgbClr val="ECE4D2"/>
                </a:solidFill>
              </a:rPr>
              <a:t>A Study on the View of Cyclic Economics in Daesoon Thought</a:t>
            </a:r>
          </a:p>
        </p:txBody>
      </p:sp>
      <p:sp>
        <p:nvSpPr>
          <p:cNvPr id="3" name="TextBox 2"/>
          <p:cNvSpPr txBox="1"/>
          <p:nvPr/>
        </p:nvSpPr>
        <p:spPr>
          <a:xfrm>
            <a:off x="914400" y="4663440"/>
            <a:ext cx="10332720" cy="1371600"/>
          </a:xfrm>
          <a:prstGeom prst="rect">
            <a:avLst/>
          </a:prstGeom>
          <a:noFill/>
        </p:spPr>
        <p:txBody>
          <a:bodyPr wrap="square">
            <a:spAutoFit/>
          </a:bodyPr>
          <a:lstStyle/>
          <a:p/>
          <a:p>
            <a:pPr algn="ctr"/>
            <a:r>
              <a:rPr sz="1600">
                <a:solidFill>
                  <a:srgbClr val="B8AE98"/>
                </a:solidFill>
              </a:rPr>
              <a:t>석사학위논문  ·  최원혁</a:t>
            </a:r>
          </a:p>
          <a:p>
            <a:pPr algn="ctr"/>
            <a:r>
              <a:rPr sz="1600">
                <a:solidFill>
                  <a:srgbClr val="B8AE98"/>
                </a:solidFill>
              </a:rPr>
              <a:t>대진대학교 대학원 대순종학과  ·  2011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Ⅰ. 들어가는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국문초록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국문초록</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“대순(大巡)”의 “순(巡)”은 모두를 1등으로 만들 수 있는 유일한 방법인“순환한다”는 의미를 가지고 있다.“나의 일은 남이 죽을 때 잘 살자는 일이요 남이 잘 살 때에 영화와 복록을 누리자는 일이니라.(『전경』교법1장6절)”는 『전경』의 구절은 대순사상에서 경제관이 중요함을 말해…</a:t>
            </a:r>
          </a:p>
          <a:p>
            <a:pPr>
              <a:spcAft>
                <a:spcPts val="1000"/>
              </a:spcAft>
            </a:pPr>
            <a:r>
              <a:rPr sz="1600">
                <a:solidFill>
                  <a:srgbClr val="ECE4D2"/>
                </a:solidFill>
              </a:rPr>
              <a:t>•  오늘날 한중일의 독보적인 경제성장으로 유불선의 순환적 경제사상이 다시 새로운 경제 사상으로 부각되고 있다. 종교가 윤리를 발전시키고 윤리가 경제를 발전시키는 종교와 경제의 선순환에 성공한 유불선이 근대 이후 폐기위기에 처했던 것은 유불선 자체의 문제가 아니라 유불선과 서교의 충돌로…</a:t>
            </a:r>
          </a:p>
          <a:p>
            <a:pPr>
              <a:spcAft>
                <a:spcPts val="1000"/>
              </a:spcAft>
            </a:pPr>
            <a:r>
              <a:rPr sz="1600">
                <a:solidFill>
                  <a:srgbClr val="ECE4D2"/>
                </a:solidFill>
              </a:rPr>
              <a:t>•  “돈은 순환지리로 생겨 쓰는 물건이다”,“큰 지혜는 천지와 같아 봄여름가을겨울의 기운이 있고 다음 지혜는 일월과 같아 현망회삭의 이치가 있고 그 다음 지혜는 귀신과 같아 길흉화복의 도가 있다. (大智 與天地同 有春夏秋冬之氣 其次 與日月同 有弦望晦朔之理 又其次 與鬼神同 有吉凶禍福之道)…</a:t>
            </a:r>
          </a:p>
          <a:p>
            <a:pPr>
              <a:spcAft>
                <a:spcPts val="1000"/>
              </a:spcAft>
            </a:pPr>
            <a:r>
              <a:rPr sz="1600">
                <a:solidFill>
                  <a:srgbClr val="ECE4D2"/>
                </a:solidFill>
              </a:rPr>
              <a:t>•  “마테오리치(이마두)가 동양의 문명신을 거느리고 서양에서 문운을 열었다”고 하는 대순사상에서는 오늘날 서양의 부국강병의 근원은 동양의 유불선과 서교의 상호 교류에서 기원한 자유지상주의(재부관-도교), 공리주의(노동관-유교), 사회계약주의(분배관-유교), 공동체주의(재화관-서교)라는…</a:t>
            </a:r>
          </a:p>
          <a:p>
            <a:pPr>
              <a:spcAft>
                <a:spcPts val="1000"/>
              </a:spcAft>
            </a:pPr>
            <a:r>
              <a:rPr sz="1600">
                <a:solidFill>
                  <a:srgbClr val="ECE4D2"/>
                </a:solidFill>
              </a:rPr>
              <a:t>•  종교와 윤리, 경제가 외부적으로 순환관계라는 주장은 제기되어 왔으나 종교와 윤리, 경제가 기반한 유불선과 서교가 상호 순환한다는 주장은 대순 사상이 처음이다. 포스트모더니즘 또한 최근 화폐, 언어, 무의식이 서로 상호 순환하며 경제와 윤리가 상호 순환한다고 한다. 대순사상의 순환적…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Ⅰ. 들어가는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Ⅰ. 들어가는 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Ⅰ. 들어가는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Ⅰ.1. 연구의 필요성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Ⅰ.1. 연구의 필요성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신을 모독한 죄로 그리스 신화의 시지프스는 영원히 바위산의 꼭대기로 바위를 올려도 다시 굴러 떨어지는 고통을 당하는 벌에 처해졌다고 한다. 시지프스처럼 극도로 발달된 물질문명 속에서도 만족을 모르는 현대인의 정신적 고통은 현대인의 경제철학이 유불선, 서교에서 비롯되어 스스로의 존재만…</a:t>
            </a:r>
          </a:p>
          <a:p>
            <a:pPr>
              <a:spcAft>
                <a:spcPts val="1000"/>
              </a:spcAft>
            </a:pPr>
            <a:r>
              <a:rPr sz="1600">
                <a:solidFill>
                  <a:srgbClr val="ECE4D2"/>
                </a:solidFill>
              </a:rPr>
              <a:t>•  종교가 윤리를 발전시키고 윤리가 경제를 발전시키는 종교와 경제의 선순환을 불신하는 현대인은 경제사상이 종교에서 기원이 되었음을 잊은 지 오래되었다. 그러나 종교가 경제발전의 장애가 된다고 하여 종교를 무시한 근대 이후 실질적 경제는 더 후퇴하고 인간은 베버가 말한 직선적 합리화라는‘…</a:t>
            </a:r>
          </a:p>
          <a:p>
            <a:pPr>
              <a:spcAft>
                <a:spcPts val="1000"/>
              </a:spcAft>
            </a:pPr>
            <a:r>
              <a:rPr sz="1600">
                <a:solidFill>
                  <a:srgbClr val="ECE4D2"/>
                </a:solidFill>
              </a:rPr>
              <a:t>•  베버가 말한 바와 같이 종교는 시대의 경제적 위기를 극복하여 왔다. 동양의 대표적인 종교인 유교, 불교, 도교와 서양의 서교(西敎)는 모두 문명의 차축시대라 불리는 철기시대로의 전환기에 경제체제의 변화에 대응하는 사상체계로서 왕실과 기층민중의 호응 아래 발전해 왔다. 오늘날 경제발전…</a:t>
            </a:r>
          </a:p>
          <a:p>
            <a:pPr>
              <a:spcAft>
                <a:spcPts val="1000"/>
              </a:spcAft>
            </a:pPr>
            <a:r>
              <a:rPr sz="1600">
                <a:solidFill>
                  <a:srgbClr val="ECE4D2"/>
                </a:solidFill>
              </a:rPr>
              <a:t>•  종교를 멀리한 현대인은 베버가 예언한 대로 사물이 모두 직선적으로 합리화되는 철의 감옥에 갇히고 경제는 더 어렵게 된 가운데 유불선의 전통이 강한 한중일 동아시아 삼국의 경제적 발전은 유불선과 서교의 경제사상의 장점을 통합하여 경제와 윤리를 순환시킬 수 있는 새로운 종교의 출현을 기…</a:t>
            </a:r>
          </a:p>
          <a:p>
            <a:pPr>
              <a:spcAft>
                <a:spcPts val="1000"/>
              </a:spcAft>
            </a:pPr>
            <a:r>
              <a:rPr sz="1600">
                <a:solidFill>
                  <a:srgbClr val="ECE4D2"/>
                </a:solidFill>
              </a:rPr>
              <a:t>•  “마테오리치(이마두)가 동양의 문명신을 거느리고 서양에서 문운을 열었다”고 하는 서양 경제학의 동양적 연원과“돈은 순환지리로 생겨 쓰는 물건이다”라고 하는 순환성으로 특징 지워지는 대순사상의 경제관은 유,불,선과 서교의 장점을 통합하여 경제와 윤리의 새로운 순환적 경제관이 가능하다고…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Ⅰ.1. 연구의 필요성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경제학과 윤리학의 상호 순환에 대한 주장은 오랫동안 있어 왔으나 윤리학과 경제학의 기반이 된 유, 불, 선과 서교가 순환적 관계에 있다는 주장은 대순 사상이 처음이다. 대순 사상은 경제와 윤리가 순환할 뿐 아니라 개인과 공동체 또한 순환 관계에 있으므로 개인-공동체, 경제-윤리라는…</a:t>
            </a:r>
          </a:p>
          <a:p>
            <a:pPr>
              <a:spcAft>
                <a:spcPts val="1000"/>
              </a:spcAft>
            </a:pPr>
            <a:r>
              <a:rPr sz="1600">
                <a:solidFill>
                  <a:srgbClr val="ECE4D2"/>
                </a:solidFill>
              </a:rPr>
              <a:t>•  오늘날의 경제문제의 핵심 축은 개인-공동체, 윤리-경제라 할 수 있으므로 순환 위기를 구체적으로 살펴보면 개인-공동체, 경제-윤리라는 두 축에 따라 4가지로 구분된다. 첫째, 개인-경제의 측면에서 경제동기 붕괴의 문제, 둘째, 개인-윤리의 측면에서 경제윤리의 실종, 셋째, 공동체-경…</a:t>
            </a:r>
          </a:p>
          <a:p>
            <a:pPr>
              <a:spcAft>
                <a:spcPts val="1000"/>
              </a:spcAft>
            </a:pPr>
            <a:r>
              <a:rPr sz="1600">
                <a:solidFill>
                  <a:srgbClr val="ECE4D2"/>
                </a:solidFill>
              </a:rPr>
              <a:t>•  [그림1.1] 현대의 경제문제</a:t>
            </a:r>
          </a:p>
          <a:p>
            <a:pPr>
              <a:spcAft>
                <a:spcPts val="1000"/>
              </a:spcAft>
            </a:pPr>
            <a:r>
              <a:rPr sz="1600">
                <a:solidFill>
                  <a:srgbClr val="ECE4D2"/>
                </a:solidFill>
              </a:rPr>
              <a:t>•  인터넷이 세계를 만인이 서로 공감하는 공감의 시대로 만들었지만 오히려 기술의 발달로 바이러스 하나가 세계전체 네트워크를 붕괴시키는 오늘날 순환의 마비에 의한 경제위기는 과거 경제위기와는 비교가 안 될 정도로 그 규모와 여파가 날로 심각해지고 인류는 일상적인 경제 붕괴위험에 노출되고…</a:t>
            </a:r>
          </a:p>
          <a:p>
            <a:pPr>
              <a:spcAft>
                <a:spcPts val="1000"/>
              </a:spcAft>
            </a:pPr>
            <a:r>
              <a:rPr sz="1600">
                <a:solidFill>
                  <a:srgbClr val="ECE4D2"/>
                </a:solidFill>
              </a:rPr>
              <a:t>•  서양 경제학에 있어 개인과 공동체의 순환문제는 오늘날 “죄수의 딜레마”와 같은 게임이론에 바탕한 행동경제학에서 답을 찾고 있다. 행동경제학에서 경제의 순환을 회복시키는 방법도 개인과 공동체의 우선순위 교체이다. “죄수의 딜레마”란 두 죄수가 붙잡혀 양쪽에게 상대방보다 먼저 실토하는…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Ⅰ. 들어가는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Ⅰ.2. 선행 연구 검토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Ⅰ.2. 선행 연구 검토</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대순 사상의 순환적 경제관에 대한 선행 연구는 첫 번째, “이마두가 동양의 문명신을 거느리고 서양에서 문운을 열었다”고 하는 서양 경제사상의 동양 종교적 연원에 대한 연구, 두 번째 “돈은 순환지리로 생겨 쓰는 물건”이라는 대순 경제 사상의 순환적 특징에 대한 이론, 세 번째, 화폐…</a:t>
            </a:r>
          </a:p>
          <a:p>
            <a:pPr>
              <a:spcAft>
                <a:spcPts val="1000"/>
              </a:spcAft>
            </a:pPr>
            <a:r>
              <a:rPr sz="1600">
                <a:solidFill>
                  <a:srgbClr val="ECE4D2"/>
                </a:solidFill>
              </a:rPr>
              <a:t>•  우선 첫 번째 “이마두가 동양의 문명신을 거느리고 서양에서 문운을 열었다”고 하는 서양 경제학의 동양 종교적 연원에 대한 대표적 연구로는 서양 근대문명이 중국에서 기원되었다는 서양문명 중국기원설과 경제사상은 종교에서 비롯되었다는 베버의 연구를 들 수 있다. 서양문명 중국기원설은 18…</a:t>
            </a:r>
          </a:p>
          <a:p>
            <a:pPr>
              <a:spcAft>
                <a:spcPts val="1000"/>
              </a:spcAft>
            </a:pPr>
            <a:r>
              <a:rPr sz="1600">
                <a:solidFill>
                  <a:srgbClr val="ECE4D2"/>
                </a:solidFill>
              </a:rPr>
              <a:t>•  베버는 경제발전의 토대였던 동양의 종교가 서양 경제 사상으로 발전하였고 동양의 종교가 순환하면 종교를 통하여 또다시 아시아적 경제 정체를 해결할 수 있음을 발견하지 못하였지만 처음으로 경제사상은 곧 종교사상임을 지적했다. 칼빈은 실제 제네바에서 상업과 고리대금업에 대한 신학적 정당화…</a:t>
            </a:r>
          </a:p>
          <a:p>
            <a:pPr>
              <a:spcAft>
                <a:spcPts val="1000"/>
              </a:spcAft>
            </a:pPr>
            <a:r>
              <a:rPr sz="1600">
                <a:solidFill>
                  <a:srgbClr val="ECE4D2"/>
                </a:solidFill>
              </a:rPr>
              <a:t>•  베버가 자본주의의 시조를 칼빈이라 하면서 밝히지 않은 것은 서양근대문명의 동양기원이다. 실제 베버와 달리 황태연은 서양이 결정적으로 자본주의 체제를 발전시킬 수 있었던 것은 서양이 칼빈에 의해 재부관을 자유주의적 재부관으로 전환한 것보다 당시 가장 부유한 중국을 발견하게 되었기 때문…</a:t>
            </a:r>
          </a:p>
          <a:p>
            <a:pPr>
              <a:spcAft>
                <a:spcPts val="1000"/>
              </a:spcAft>
            </a:pPr>
            <a:r>
              <a:rPr sz="1600">
                <a:solidFill>
                  <a:srgbClr val="ECE4D2"/>
                </a:solidFill>
              </a:rPr>
              <a:t>•  대순 사상의 순환적 경제관의 타당성을 밝히는 두 번째 선행연구는 “순환지리로 쓰는 돈”이라는 화폐의 경제적 기능에 대한 경제와 윤리의 관계에 대한 연구라 할 수 있다. 경제윤리이론이란 경제는 윤리와 음양과 같이 서로 상호작용하는 관계에 있으며 경제윤리는 인간이 지향하는 덕, 선, 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Ⅰ.2. 선행 연구 검토</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[그림1.2] 종교별 방법론 및 대표연구자</a:t>
            </a:r>
          </a:p>
          <a:p>
            <a:pPr>
              <a:spcAft>
                <a:spcPts val="1000"/>
              </a:spcAft>
            </a:pPr>
            <a:r>
              <a:rPr sz="1600">
                <a:solidFill>
                  <a:srgbClr val="ECE4D2"/>
                </a:solidFill>
              </a:rPr>
              <a:t>•  첫째, 개인-경제의 측면에서 화폐와 경제의 근원이 종교에 있음을 밝히는 경제의 종교의 순환 관계에 대한 실증주의적 연구는 평생에 걸쳐 종교와 경제의 상호 순환적 관계를 통해 현대 사회학의 방법론을 정립했다는 베버의 연구가 있다. 베버는 종교가 경제의 주변 문제일 뿐이라는 유물론에 대…</a:t>
            </a:r>
          </a:p>
          <a:p>
            <a:pPr>
              <a:spcAft>
                <a:spcPts val="1000"/>
              </a:spcAft>
            </a:pPr>
            <a:r>
              <a:rPr sz="1600">
                <a:solidFill>
                  <a:srgbClr val="ECE4D2"/>
                </a:solidFill>
              </a:rPr>
              <a:t>•  둘째, 종교와 경제의 순환적 관계를 개인-경제적 측면에서 실증주의적으로 밝힌 사람이 베버라면 개인-윤리의 측면에서 실제 경제와 윤리가 순환하는 가치론적인 작용원리를 현상학적인 관계론으로 밝힌 사람은 짐멜이다. 짐멜은 베버의 이해사회학과 대비되는 형식사회학이라는 현상학적인 관계론을 개…</a:t>
            </a:r>
          </a:p>
          <a:p>
            <a:pPr>
              <a:spcAft>
                <a:spcPts val="1000"/>
              </a:spcAft>
            </a:pPr>
            <a:r>
              <a:rPr sz="1600">
                <a:solidFill>
                  <a:srgbClr val="ECE4D2"/>
                </a:solidFill>
              </a:rPr>
              <a:t>•  셋째, 공동체-경제의 측면에서 짐멜이 밝힌 화폐의 현상학적 기능을 사회에 구조적으로 적용되는 과정을 밝힌 것이 보들리야르와 부르디외의 구조주의론이 된다. 보들리야르와 부르디외는 개인적인 측면에서는 사용가치와 교환가치로만 사용되던 상품이 공동체-경제의 단계에 와서는 기호가치가 되어 오…</a:t>
            </a:r>
          </a:p>
          <a:p>
            <a:pPr>
              <a:spcAft>
                <a:spcPts val="1000"/>
              </a:spcAft>
            </a:pPr>
            <a:r>
              <a:rPr sz="1600">
                <a:solidFill>
                  <a:srgbClr val="ECE4D2"/>
                </a:solidFill>
              </a:rPr>
              <a:t>•  넷째 공동체-윤리의 측면을 본다면 구조화된 자본주의가 실제로 움직일 때는 관계중심적으로 움직인다 할 수 있으므로 기호가치는 타인에게 증여되는 상징가치로 바뀌어야 경제가 순환한다는 증여론적 경제학이 된다. 기호가치론을 주장한 부르디외와 보들리야르는 기호가치는 공동체를 통한 상징가치로…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Ⅰ. 들어가는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Ⅰ.3. 연구의 범위와 방법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Ⅰ.3. 연구의 범위와 방법</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오늘날 대부분 사람들의 경제관은 유불선과 서교에 기반한 자유지상주의, 공동체주의, 사회계약주의, 공리주의에 벗어나지 못하여 상처받고 있지만 그 원인이 경제가 순환이며 자동적으로 보이는 순환에는 절대적 존재의 개입이 있어야 가능하다는 순환의 속성에 있다는 것을 모르고 있다. 이 글은…</a:t>
            </a:r>
          </a:p>
          <a:p>
            <a:pPr>
              <a:spcAft>
                <a:spcPts val="1000"/>
              </a:spcAft>
            </a:pPr>
            <a:r>
              <a:rPr sz="1600">
                <a:solidFill>
                  <a:srgbClr val="ECE4D2"/>
                </a:solidFill>
              </a:rPr>
              <a:t>•  우선 Ⅰ장에서는 연구의 필요성과 선행연구, 연구의 범위와 방법에 대해 약술하였다. 현대 환경위기와 사회위기는 경제의 순환을 마비시키고 기술의 발달로 인하여 그 마비는 나비효과와 같이 증폭되어 사회적 위험을 야기한다. 현대의 위기는 전통에 기반한 새로운 경제사상의 출현으로 해결되며 그…</a:t>
            </a:r>
          </a:p>
          <a:p>
            <a:pPr>
              <a:spcAft>
                <a:spcPts val="1000"/>
              </a:spcAft>
            </a:pPr>
            <a:r>
              <a:rPr sz="1600">
                <a:solidFill>
                  <a:srgbClr val="ECE4D2"/>
                </a:solidFill>
              </a:rPr>
              <a:t>•  Ⅲ장에서는 종지에 나타난 순환적 경제관을 분석한다. Ⅲ-1장에서는 대순사상의 순환론적 특성을 구체적으로 밝혀보고자 한다. 동서양의 순환론은 역(易)으로 대표되는 바 우선 역(易)의 순환성의 속성인 대대(待對), 유행(流行), 중화(中和), 회귀(回歸), 증식(增殖)을 정의하고 복잡계…</a:t>
            </a:r>
          </a:p>
          <a:p>
            <a:pPr>
              <a:spcAft>
                <a:spcPts val="1000"/>
              </a:spcAft>
            </a:pPr>
            <a:r>
              <a:rPr sz="1600">
                <a:solidFill>
                  <a:srgbClr val="ECE4D2"/>
                </a:solidFill>
              </a:rPr>
              <a:t>•  Ⅳ장에서는 Ⅲ장의 분석을 통하여 나타난 종지의 순환적 경제관이 내포하는 가치를 경제문제와 대응하여 살펴보고자 한다. Ⅳ-1장에서는 개인-경제측면의 경제동기와 연관하여 음양합덕이 경제동기의 실종에 대한 회복방안이 될 수 있음을 살펴보기로 한다. Ⅳ-2장에서는 개인-윤리 측면의 경제윤리…</a:t>
            </a:r>
          </a:p>
          <a:p>
            <a:pPr>
              <a:spcAft>
                <a:spcPts val="1000"/>
              </a:spcAft>
            </a:pPr>
            <a:r>
              <a:rPr sz="1600">
                <a:solidFill>
                  <a:srgbClr val="ECE4D2"/>
                </a:solidFill>
              </a:rPr>
              <a:t>•  Ⅴ장 맺음말에서는 본 연구의 한계와 Ⅳ장에서 밝힌 대순사상의 순환적 경제관의 가치가 대순 사상뿐 아니라 한국 사상의 세계화의 한 방편이 되어 Ⅰ장에서 제시한 현대 경제 문제의 해결책이 될 수 있음을 확인한다.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Ⅰ.3. 연구의 범위와 방법</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참고로 본 글에서의 순환을 통한 복잡계로서의 오행 현상의 이해와 오행에 대한 제 종교와 경제 사상의 배치 등 이 글 전체의 내용은 대순종학과의 공식적인 입장이 아니라 개인적인 견해일 뿐임을 미리 밝힌다.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 제 종교의 경제관과 제한적 순환성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Ⅱ.1. 경제윤리와 제 종교의 순환성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Ⅱ.1. 경제윤리와 제 종교의 순환성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종교의 경제사상은 추상적인 종교의 사상을 구체화시켜 표현하는 매우 핵심적인 종교의 구성요소라 할 수 있다. 종교는 경제사상으로 표현될 때 그 숨은 의미를 파악할 수 있다. 종교는 경제사상으로 나타날 때 종교 사상보다 구체적인 경제윤리로 나타난다 할 수 있다.</a:t>
            </a:r>
          </a:p>
          <a:p>
            <a:pPr>
              <a:spcAft>
                <a:spcPts val="1000"/>
              </a:spcAft>
            </a:pPr>
            <a:r>
              <a:rPr sz="1600">
                <a:solidFill>
                  <a:srgbClr val="ECE4D2"/>
                </a:solidFill>
              </a:rPr>
              <a:t>•  현대 자본주의 경제학은 극구 부인하지만 경제와 윤리는 야누스와 같이 늘 상반되면서도 동시에 나타나는 매우 밀접한 관계이다. 사과 하나를 어떻게 먹느냐하는 일상적인 상황에서도 경제와 윤리는 늘 상반적으로 나타난다. 경제와 윤리는 상반되는 형태로 자주 등장하므로 경제의 역이 윤리요 윤리…</a:t>
            </a:r>
          </a:p>
          <a:p>
            <a:pPr>
              <a:spcAft>
                <a:spcPts val="1000"/>
              </a:spcAft>
            </a:pPr>
            <a:r>
              <a:rPr sz="1600">
                <a:solidFill>
                  <a:srgbClr val="ECE4D2"/>
                </a:solidFill>
              </a:rPr>
              <a:t>•  [그림2.1] 경제와 윤리의 역사적 추이</a:t>
            </a:r>
          </a:p>
          <a:p>
            <a:pPr>
              <a:spcAft>
                <a:spcPts val="1000"/>
              </a:spcAft>
            </a:pPr>
            <a:r>
              <a:rPr sz="1600">
                <a:solidFill>
                  <a:srgbClr val="ECE4D2"/>
                </a:solidFill>
              </a:rPr>
              <a:t>•  제 종교의 핵심윤리는 눈에 보이는 경제사상으로 나타나고 종교의 경제사상은 주로 윤리학적인 형태로 나타난다고 할 때 제 종교의 경제윤리를 살펴보는 것은 종교를 이해하는데 있어 매우 중요한 작업이 된다. 또 윤리학 또한 경제학과 밀접한 관계라 할 수 있으므로 윤리학과 경제학, 종교 삼자…</a:t>
            </a:r>
          </a:p>
          <a:p>
            <a:pPr>
              <a:spcAft>
                <a:spcPts val="1000"/>
              </a:spcAft>
            </a:pPr>
            <a:r>
              <a:rPr sz="1600">
                <a:solidFill>
                  <a:srgbClr val="ECE4D2"/>
                </a:solidFill>
              </a:rPr>
              <a:t>•  첫째, 우선 윤리학의 체계를 살펴본다면 윤리학은 시대순으로 덕(탁월)을 강조하는 아리스토텔레스의 윤리학, 정(正, 정의)을 강조하는 칸트의 의무론적 윤리학, 선(善, 효율)을 강조하는 자유지상주의적 혹은 공리주의적 윤리학이라는 3가지 전통을 가지고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Ⅱ.1. 경제윤리와 제 종교의 순환성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일상생활을 예로 든다면 이익과 윤리가 상충되는 상황에서 양심을 지키는 윤리적 행위의 기준은 고대 그리스에서는 나의 존재인 내면적인 덕의 문제였으나 칸트에 와서는 사회계약 제도에 의한 나의 윤리적 의무와 권리의 문제가 되고 다시 현대에 와서는 나와 사회전체의 이익이라는 행위의 문제로…</a:t>
            </a:r>
          </a:p>
          <a:p>
            <a:pPr>
              <a:spcAft>
                <a:spcPts val="1000"/>
              </a:spcAft>
            </a:pPr>
            <a:r>
              <a:rPr sz="1600">
                <a:solidFill>
                  <a:srgbClr val="ECE4D2"/>
                </a:solidFill>
              </a:rPr>
              <a:t>•  추상적인 윤리학 개념을 구체적인 사회과학인 경제학에 적용시키려면 이론과 실천이라는 양면을 가지는 윤리학의 체계는 다음과 같은 9개의 체계로 나눠볼 수 있다.</a:t>
            </a:r>
          </a:p>
          <a:p>
            <a:pPr>
              <a:spcAft>
                <a:spcPts val="1000"/>
              </a:spcAft>
            </a:pPr>
            <a:r>
              <a:rPr sz="1600">
                <a:solidFill>
                  <a:srgbClr val="ECE4D2"/>
                </a:solidFill>
              </a:rPr>
              <a:t>•  &lt;표2.1&gt; 윤리학의 체계</a:t>
            </a:r>
          </a:p>
          <a:p>
            <a:pPr>
              <a:spcAft>
                <a:spcPts val="1000"/>
              </a:spcAft>
            </a:pPr>
            <a:r>
              <a:rPr sz="1600">
                <a:solidFill>
                  <a:srgbClr val="ECE4D2"/>
                </a:solidFill>
              </a:rPr>
              <a:t>•  | 평가대상＼가치개념 | 기본적 가치언어 | 조작적 가치언어 | 궁극적목적 |</a:t>
            </a:r>
          </a:p>
          <a:p>
            <a:pPr>
              <a:spcAft>
                <a:spcPts val="1000"/>
              </a:spcAft>
            </a:pPr>
            <a:r>
              <a:rPr sz="1600">
                <a:solidFill>
                  <a:srgbClr val="ECE4D2"/>
                </a:solidFill>
              </a:rPr>
              <a:t>•  | :---: | :---: | :---: | :---: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Ⅱ.2. 중국식 도교자본주의와 자유지상주의적 재부관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Ⅱ.2. 중국식 도교자본주의와 자유지상주의적 재부관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유교자본주의나 프로테스탄티즘과 같이 유교, 서교, 불교에 비해 도교는 자본주의와 관련되어 학계 논쟁의 붐을 일으키지는 못하였으나 가장 자본주의와 가까우면서 중국 사람에게 영향이 컸던 사상이라 할 수 있다. 오늘날 공산주의 중국에서 가장 인기 있는 종교는 도교이며 실제 물질을 최우선…</a:t>
            </a:r>
          </a:p>
          <a:p>
            <a:pPr>
              <a:spcAft>
                <a:spcPts val="1000"/>
              </a:spcAft>
            </a:pPr>
            <a:r>
              <a:rPr sz="1600">
                <a:solidFill>
                  <a:srgbClr val="ECE4D2"/>
                </a:solidFill>
              </a:rPr>
              <a:t>•  중국식 도교자본주의를 일상생활과 가까운 부분부터 살펴보면 역사, 중점경제활동, 교리, 사회관, 경제 활동 태도, 시장관, 국가관, 가치이론, 문제점, 차이점, 개선점 등의 순으로 자유지상주의와 신고전파 경제학과 유사한 재부관을 가지고 있음이 나타난다.</a:t>
            </a:r>
          </a:p>
          <a:p>
            <a:pPr>
              <a:spcAft>
                <a:spcPts val="1000"/>
              </a:spcAft>
            </a:pPr>
            <a:r>
              <a:rPr sz="1600">
                <a:solidFill>
                  <a:srgbClr val="ECE4D2"/>
                </a:solidFill>
              </a:rPr>
              <a:t>•  먼저 도교의 동서양 교류의 역사를 살펴보면 도교는 마테오리치에 의해 간접적으로 처음으로 유럽에 소개된 후 경제 이론에서는 보이지 않는 손을 주장한 아담 스미스, 한계효용론을 주장한 신고전학파에 영향을 미쳤고 경제윤리라는 측면에서는 자유지상주의에 영향을 주었다. 베버에 의해 자본주의의…</a:t>
            </a:r>
          </a:p>
          <a:p>
            <a:pPr>
              <a:spcAft>
                <a:spcPts val="1000"/>
              </a:spcAft>
            </a:pPr>
            <a:r>
              <a:rPr sz="1600">
                <a:solidFill>
                  <a:srgbClr val="ECE4D2"/>
                </a:solidFill>
              </a:rPr>
              <a:t>•  칼빈은 모든 것을 나누어주는 서교의 박애정신에 반하여 중국과 인도와 같이 당시 이슬람에서도 불법으로 규정지은 고리대금을 인정하여 저축의 기반을 마련한다. 칼빈은 필요한 상품의 온전한 거래를 방해하는 독점을 살인과도 같은 것으로 본다. 칼빈의 주장에 따라 당시 제네바시는 생필품에 속하…</a:t>
            </a:r>
          </a:p>
          <a:p>
            <a:pPr>
              <a:spcAft>
                <a:spcPts val="1000"/>
              </a:spcAft>
            </a:pPr>
            <a:r>
              <a:rPr sz="1600">
                <a:solidFill>
                  <a:srgbClr val="ECE4D2"/>
                </a:solidFill>
              </a:rPr>
              <a:t>•  사상사적으로 도교의 소국과민 사상은 공자와 맹자의 자유방임적 경제사상에 영향을 주고 다시 이것이 칼빈과 아담 스미스 등으로 이어졌다 할 수 있다. 자유지상주의와 한계효용학파의 사상적 기원은 아담 스미스의 국부론인데 국부(國富)론은 그 제목부터가 도교의 부국(富國)강병책에서 왔고 국부…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Ⅱ.2. 중국식 도교자본주의와 자유지상주의적 재부관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교리적인 측면에서도 저축은 현실을 부정하고 미래에 대한 기대에 더 희망을 걸기에‘X는 -X’라는 순환적 논리를 가진 도교의 경제사상이 된다. 소국과민, 물의 철학은 대표적인 저축 사상이다. 도교는 생산-유통-분배-저축의 4측면에서 저축을 기반으로 순환을 촉진시키고자 한다.</a:t>
            </a:r>
          </a:p>
          <a:p>
            <a:pPr>
              <a:spcAft>
                <a:spcPts val="1000"/>
              </a:spcAft>
            </a:pPr>
            <a:r>
              <a:rPr sz="1600">
                <a:solidFill>
                  <a:srgbClr val="ECE4D2"/>
                </a:solidFill>
              </a:rPr>
              <a:t>•  도교의 중점 경제활동을 살펴본다면 생산-유통-분배-저축이라는 경제 사이클에서 도교와 관련된 경제 분야는 특히 저축이라 할 수 있다. 동양사상이 서양 사상에 비해 상대적으로 내향성을 지향하고 동양 사상 중에서도 유교가 나아감의 종교라면 도교는 돌아옴의 종교라 할 때 도교는 노자로부터…</a:t>
            </a:r>
          </a:p>
          <a:p>
            <a:pPr>
              <a:spcAft>
                <a:spcPts val="1000"/>
              </a:spcAft>
            </a:pPr>
            <a:r>
              <a:rPr sz="1600">
                <a:solidFill>
                  <a:srgbClr val="ECE4D2"/>
                </a:solidFill>
              </a:rPr>
              <a:t>•  도교는 적극적인 활동보다는 소극적인 관망의 지혜를 강조하고 있다. 저축은 분배가 다 끝나고 내일을 기약하며 모든 에너지를 저장하고 있는 상태로 오행으로는“물”과 같고 색깔로는 검은 색과 같다 할 수 있다. 실제 도교는 “물의 종교”라 불릴 정도로 물의 지혜를 강조하고 검은 색을 상징…</a:t>
            </a:r>
          </a:p>
          <a:p>
            <a:pPr>
              <a:spcAft>
                <a:spcPts val="1000"/>
              </a:spcAft>
            </a:pPr>
            <a:r>
              <a:rPr sz="1600">
                <a:solidFill>
                  <a:srgbClr val="ECE4D2"/>
                </a:solidFill>
              </a:rPr>
              <a:t>•  도교의 국가관을 살펴보면 이상적 국가를 최소한의 정부로 보는 소국과민(小國寡民)사상으로 나타난다. 소국과민(小國寡民)은 무정부주의와 같이 효용 위주의 최소한의 나라로 나타난다. 황태연은 아담 스미스가 유교의 무위이치를 배워왔다고 했으나 유교의 무위이치는 또한 도교로부터 배워 온 것이…</a:t>
            </a:r>
          </a:p>
          <a:p>
            <a:pPr>
              <a:spcAft>
                <a:spcPts val="1000"/>
              </a:spcAft>
            </a:pPr>
            <a:r>
              <a:rPr sz="1600">
                <a:solidFill>
                  <a:srgbClr val="ECE4D2"/>
                </a:solidFill>
              </a:rPr>
              <a:t>•  사회관을 살펴본다면 도교는 정치사회적인 활동을 인위적인 노력이라 부정하고 경제적인 활동만으로 만물을 저축을 통해 순환시키는 역할을 하므로 자유지상주의적 재부관과 공통점을 가지고 있다. 자유지상주의는 경제윤리에 있어 공동체보다는 개인, 정의보다는 자유를 우선하는 경제윤리라 할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Ⅱ.3. 불교 보살자본주의와 사회계약주의적 분배관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Ⅱ.3. 불교 보살자본주의와 사회계약주의적 분배관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아시아의 4마리 용과 중국 일본이라는 뒤 배경을 가지고 있는 유교자본주의에 비해 불교의 경제사상은 상대적으로 주목을 받지 못했지만 경제 관련 언급이 상대적으로 풍부한 불교는 최근 인도의 부상과 생태주의의 확산으로 새로운 경제 대안으로 주목받고 있다. 특히 불교의 경제사상은 도교나 유…</a:t>
            </a:r>
          </a:p>
          <a:p>
            <a:pPr>
              <a:spcAft>
                <a:spcPts val="1000"/>
              </a:spcAft>
            </a:pPr>
            <a:r>
              <a:rPr sz="1600">
                <a:solidFill>
                  <a:srgbClr val="ECE4D2"/>
                </a:solidFill>
              </a:rPr>
              <a:t>•  불교 보살자본주의를 일상생활과 가까운 부분부터 살펴보면 역사, 중점경제활동, 교리, 사회관, 경제 활동 태도, 시장관, 국가관, 가치이론, 문제점, 차이점, 개선점 등에서 사회계약주의와 고전경제학과 유사한 분배관을 가지고 있음을 알 수 있다.</a:t>
            </a:r>
          </a:p>
          <a:p>
            <a:pPr>
              <a:spcAft>
                <a:spcPts val="1000"/>
              </a:spcAft>
            </a:pPr>
            <a:r>
              <a:rPr sz="1600">
                <a:solidFill>
                  <a:srgbClr val="ECE4D2"/>
                </a:solidFill>
              </a:rPr>
              <a:t>•  불교자본주의의 역사를 살펴본다면 불교 또한 마테오리치가 서양에 처음으로 소개한다. 불교는 칸트의 의무주의 윤리학에 영향을 미친다. 아리스토텔레스로의 덕의 윤리학으로부터 시작한 서양의 윤리학은 서교의 공동체주의적 윤리학, 칸트의 의무론적 사회계약주의 윤리학을 거치고 영국 공리주의에 이…</a:t>
            </a:r>
          </a:p>
          <a:p>
            <a:pPr>
              <a:spcAft>
                <a:spcPts val="1000"/>
              </a:spcAft>
            </a:pPr>
            <a:r>
              <a:rPr sz="1600">
                <a:solidFill>
                  <a:srgbClr val="ECE4D2"/>
                </a:solidFill>
              </a:rPr>
              <a:t>•  사회계약주의의 근원인 의무주의 윤리학의 시조인 칸트는 자신도 자신의 생각이 불교와 가까운 줄은 몰랐지만 후대의 사람들이 칸트 철학과 불교의 유사점을 많이 지적했다.</a:t>
            </a:r>
          </a:p>
          <a:p>
            <a:pPr>
              <a:spcAft>
                <a:spcPts val="1000"/>
              </a:spcAft>
            </a:pPr>
            <a:r>
              <a:rPr sz="1600">
                <a:solidFill>
                  <a:srgbClr val="ECE4D2"/>
                </a:solidFill>
              </a:rPr>
              <a:t>•  칸트는 이율배반이라는 원리를 서양에서 최초로 도입하여 인도철학과 같은 “3”의 체계를 도입한다. 불교와 인도는 각각 “중(中)”,“공(空)”,“0(零)”이라는 개념을 개발하여 남자/여자, 음/양 이분법으로만 되어 있는 세계에 불교적 삼분법을 도입하였고 칸트의 “이율배반”개념 역시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Ⅱ.3. 불교 보살자본주의와 사회계약주의적 분배관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불교의 중점경제활동은 가만히 머물러 있는 듯한 허공(空)이 무너졌다가 이루어진다는 뜻의 성주괴공(成住壞空)이라는 불교의 순환관에 나타나듯이 저축-생산-유통-분배 중에서 재산이란 연기(緣起)에 의해 생겨나고 계급을 인정하지 않으므로 공정한 분배를 중심으로 경제활동이 나타난다.</a:t>
            </a:r>
          </a:p>
          <a:p>
            <a:pPr>
              <a:spcAft>
                <a:spcPts val="1000"/>
              </a:spcAft>
            </a:pPr>
            <a:r>
              <a:rPr sz="1600">
                <a:solidFill>
                  <a:srgbClr val="ECE4D2"/>
                </a:solidFill>
              </a:rPr>
              <a:t>•  불교 교리체계를 보면 효율성보다는 연기론에 따라 공정하게 분배하는 분배 중심의 순환을 강조하는 종교라 할 수 있다. 불교에서 분배를 강조하는 이유는 두 가지로 해석된다. 하나는 불교가 발생한 인도는 천혜의 풍토 때문에 식량생산에 인위적 노력이 별로 필요 없었고 이모작도 가능했고 천재…</a:t>
            </a:r>
          </a:p>
          <a:p>
            <a:pPr>
              <a:spcAft>
                <a:spcPts val="1000"/>
              </a:spcAft>
            </a:pPr>
            <a:r>
              <a:rPr sz="1600">
                <a:solidFill>
                  <a:srgbClr val="ECE4D2"/>
                </a:solidFill>
              </a:rPr>
              <a:t>•  불교의 중점경제활동을 보면 불교는 흔히들 세속적인 노동을 떠나 있는 초월적 종교로 인식되기도 하지만 붓다의 가르침은 그러한 인식이 편견임을 보여준다고 한다.</a:t>
            </a:r>
          </a:p>
          <a:p>
            <a:pPr>
              <a:spcAft>
                <a:spcPts val="1000"/>
              </a:spcAft>
            </a:pPr>
            <a:r>
              <a:rPr sz="1600">
                <a:solidFill>
                  <a:srgbClr val="ECE4D2"/>
                </a:solidFill>
              </a:rPr>
              <a:t>•  서가여래는 아무런 경제 활동을 하지 않는 사람을 눈 먼 사람, 재산을 얻거나 늘이는 방법은 아는데 선악을 구별하는 눈이 없는 사람, 두 눈 가진 사람은 재산을 얻거나 늘이는 방법도 알면서 선악을 구별할 줄도 아는 사람이라고 하며 올바른 분배에 입각한 경제 활동을 소중히 여긴다.</a:t>
            </a:r>
          </a:p>
          <a:p>
            <a:pPr>
              <a:spcAft>
                <a:spcPts val="1000"/>
              </a:spcAft>
            </a:pPr>
            <a:r>
              <a:rPr sz="1600">
                <a:solidFill>
                  <a:srgbClr val="ECE4D2"/>
                </a:solidFill>
              </a:rPr>
              <a:t>•  도교적인 저축을 통하여 경제 잠재력이 팽창한 경제는 창조적 도약을 하기 전에 도약 후의 재부를 어떻게 분배할 것인지를 먼저 고려하는 모습이 된다. 사회계약주의 또한 자유지상주의에서 최대다수의 행복을 위한 자연적인 극대화 방법은 없다는 A. C. 애로우의 불가능성 정리에 대한 대안으로…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Ⅱ.4. 유교자본주의와 공리주의적 노동관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Ⅱ.4. 유교자본주의와 공리주의적 노동관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20세기 후반 중국과 일본, 베트남 그리고 4마리의 아시아의 용이라 불리운 한국, 대만, 홍콩, 싱가포르 등 유교가 국가 사상이었던 나라만 유독 세계경제를 석권하기 시작하자 중국 공산당이 반근대적 사상으로 매도한 유교가 자본주의보다 우수한 사상이 아닌가 하는 반성이 일어나 “유교자본…</a:t>
            </a:r>
          </a:p>
          <a:p>
            <a:pPr>
              <a:spcAft>
                <a:spcPts val="1000"/>
              </a:spcAft>
            </a:pPr>
            <a:r>
              <a:rPr sz="1600">
                <a:solidFill>
                  <a:srgbClr val="ECE4D2"/>
                </a:solidFill>
              </a:rPr>
              <a:t>•  미국 옌칭연구소의 뚜웨이밍, 일본의 모리시마 미츠오(森嶋通夫), 한국의 함재봉으로부터 유교와 자본주의의 친화성에 대한 연구가 진행되었고 서양 오리엔탈리즘에 의해 왜곡된 유교사상의 우수성이 하나씩 밝혀지기 시작했다. 유교자본주의를 정력적으로 전파하는 뚜웨이밍 등은 유교가 자본주의 발생…</a:t>
            </a:r>
          </a:p>
          <a:p>
            <a:pPr>
              <a:spcAft>
                <a:spcPts val="1000"/>
              </a:spcAft>
            </a:pPr>
            <a:r>
              <a:rPr sz="1600">
                <a:solidFill>
                  <a:srgbClr val="ECE4D2"/>
                </a:solidFill>
              </a:rPr>
              <a:t>•  유교 자본주의를 일상생활과 가까운 부분부터 살펴보면 역사, 중점경제활동, 교리, 사회관, 경제 활동 태도, 시장관, 국가관, 가치이론, 문제점, 차이점, 개선점 등의 순으로 공리주의와 케인즈-슘페터 경제학과 유사한 노동관을 가지고 있음을 알게 된다.</a:t>
            </a:r>
          </a:p>
          <a:p>
            <a:pPr>
              <a:spcAft>
                <a:spcPts val="1000"/>
              </a:spcAft>
            </a:pPr>
            <a:r>
              <a:rPr sz="1600">
                <a:solidFill>
                  <a:srgbClr val="ECE4D2"/>
                </a:solidFill>
              </a:rPr>
              <a:t>•  유교 사상이 서양의 경제 사상에 미친 영향사를 살펴보자면 서양에서 캘빈주의로 재부가 축적되자 다음은 생산이 주요 문제가 되었다. 서양은 그리스 로마 이후 서교에 이르기까지 개인의 탐욕에 대한 극도의 부정적 견해가 있어 왔으나 재화가 구원의 징표가 된 상황에서 이기심을 사회 윤리의 근…</a:t>
            </a:r>
          </a:p>
          <a:p>
            <a:pPr>
              <a:spcAft>
                <a:spcPts val="1000"/>
              </a:spcAft>
            </a:pPr>
            <a:r>
              <a:rPr sz="1600">
                <a:solidFill>
                  <a:srgbClr val="ECE4D2"/>
                </a:solidFill>
              </a:rPr>
              <a:t>•  유교의 이론체계를 본다면 유교는 창조성을 억압하는 고리타분한 이론이라는 통념과 반대로 대표 이론서인 대학(大學)에“명덕(明德)”,“재신민(在新民)”, “일신우일신(日新又日新)”이라 강조하듯이 저축으로 만들어진 씨앗을 창조성을 통해 싹 틔울 수 있는 추진성의 창조성을 특징으로 한다 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Ⅱ.4. 유교자본주의와 공리주의적 노동관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유교의 중심경제활동을 살펴본다면 저축-생산-유통-분배 중 생산을 강조한다. 인(仁)을 강조한 유교는 맹자에 가서 인의(仁義)를 동시에 강조하기 했지만 생산인 인(仁)을 가장 강조했던 것이다. 유교자본주의에서 인간은 만물을 순환시키기 위해 공동체를 이루고 최대다수를 위한 최대행복을 통…</a:t>
            </a:r>
          </a:p>
          <a:p>
            <a:pPr>
              <a:spcAft>
                <a:spcPts val="1000"/>
              </a:spcAft>
            </a:pPr>
            <a:r>
              <a:rPr sz="1600">
                <a:solidFill>
                  <a:srgbClr val="ECE4D2"/>
                </a:solidFill>
              </a:rPr>
              <a:t>•  유교의 국가관을 살펴본다면 유교는 공자의 인문주의 국가관으로 대표된다 할 수 있다. 공자는 자유지상주의적인 가족주의 국가관의 문제점을 보완하고 장점을 살려 혈연의 자발성에서 최소 과실을 위한 인문계발의 열망으로 국가를 상정하여 유럽이 그토록 부러워하던 철인국가의 전통을 만들었다.</a:t>
            </a:r>
          </a:p>
          <a:p>
            <a:pPr>
              <a:spcAft>
                <a:spcPts val="1000"/>
              </a:spcAft>
            </a:pPr>
            <a:r>
              <a:rPr sz="1600">
                <a:solidFill>
                  <a:srgbClr val="ECE4D2"/>
                </a:solidFill>
              </a:rPr>
              <a:t>•  유교는 논어와 맹자에서 나오듯이 전국시대에 이미 케인즈적 경제 조절 정책이 있었고 당연히 아담스미스의 자유방임정책을 시행해 부국강병을 최대한 효율성 있게 시행하고 있었다. 서양자본주의의 유교 연원에 대한 연구는 마침내 동양이 서양에게서 자본주의를 배운 것이 아니라 서양이 동양의 자본…</a:t>
            </a:r>
          </a:p>
          <a:p>
            <a:pPr>
              <a:spcAft>
                <a:spcPts val="1000"/>
              </a:spcAft>
            </a:pPr>
            <a:r>
              <a:rPr sz="1600">
                <a:solidFill>
                  <a:srgbClr val="ECE4D2"/>
                </a:solidFill>
              </a:rPr>
              <a:t>•  다만 서양은 동양에게 자본주의를 배워갔으나 그 내면에 있는 역(易)의 순환적 경제관을 배우지 못하여 큰 재앙을 불러 일으키게 되었다.</a:t>
            </a:r>
          </a:p>
          <a:p>
            <a:pPr>
              <a:spcAft>
                <a:spcPts val="1000"/>
              </a:spcAft>
            </a:pPr>
            <a:r>
              <a:rPr sz="1600">
                <a:solidFill>
                  <a:srgbClr val="ECE4D2"/>
                </a:solidFill>
              </a:rPr>
              <a:t>•  유교의 사회관을 살펴본다면 유교 자본주의는 효율을 강조하되 사회전체의 집합적인 효율을 강조한다는 점에서 윤리학적으로는 공리주의와 가깝다. 인간이 탐욕을 추구해도 보이지 않는 손이 조정한다는 아담 스미스의 경제사상은 “도”를 모방한 것이었다. 유교는 사회구성원들이 하나의 목표를 추구하…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Ⅱ. 제 종교의 경제관과 제한적 순환성</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Ⅱ.5. 서교(西敎) 서구자본주의와 공동체주의적 재화관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Ⅱ.5. 서교(西敎) 서구자본주의와 공동체주의적 재화관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막스 베버가 프로테스탄티즘과 자본주의 정신을 발표한 이후 서교는 자본주의와의 밀접한 연관이 있다고 알려졌다. 그러나 베버가 밝힌 바와는 달리 프로테스탄티즘은 서교의 박애 정신에 기반한 공동체정신이 유교와 차별화되어 자본주의 성립에 성공했다 할 수 있다.</a:t>
            </a:r>
          </a:p>
          <a:p>
            <a:pPr>
              <a:spcAft>
                <a:spcPts val="1000"/>
              </a:spcAft>
            </a:pPr>
            <a:r>
              <a:rPr sz="1600">
                <a:solidFill>
                  <a:srgbClr val="ECE4D2"/>
                </a:solidFill>
              </a:rPr>
              <a:t>•  서교 서구자본주의를 일상생활과 가까운 부분부터 살펴보면 역사, 중점경제활동, 교리, 사회관, 경제 활동 태도, 시장관, 국가관, 가치이론, 문제점, 차이점, 개선점 등의 순으로 공동체주의와 제도 경제학과 유사한 재화관을 가지고 있음을 알게 된다.</a:t>
            </a:r>
          </a:p>
          <a:p>
            <a:pPr>
              <a:spcAft>
                <a:spcPts val="1000"/>
              </a:spcAft>
            </a:pPr>
            <a:r>
              <a:rPr sz="1600">
                <a:solidFill>
                  <a:srgbClr val="ECE4D2"/>
                </a:solidFill>
              </a:rPr>
              <a:t>•  서교 서구자본주의의 역사를 살펴본다면 프로테스탄티즘을 서교와 동일하게 본 베버와 달리 서교의 박애사상은 프로테스탄티즘의 재부관과는 정확히 정반대되는 사상을 가졌다. 도교의 재부관이“물(水)”과 같이 만물을 끌어당겨 축적하는 역할을 한다면 “박애(博愛)”는 “불(火)”과 같이 모아놓은…</a:t>
            </a:r>
          </a:p>
          <a:p>
            <a:pPr>
              <a:spcAft>
                <a:spcPts val="1000"/>
              </a:spcAft>
            </a:pPr>
            <a:r>
              <a:rPr sz="1600">
                <a:solidFill>
                  <a:srgbClr val="ECE4D2"/>
                </a:solidFill>
              </a:rPr>
              <a:t>•  서교의 중점경제활동을 살펴본다면 저축, 생산, 유통, 분배라는 경제 순환 중 유통에 해당된다, 저축, 노동, 혁신을 통하여 구축된 가치는 박애라는 공동체주의적 재화관에 입각한 유통을 거친 후에야 비로소 가치가 실현된다. 서교는 저축-생산-유통-분배라는 경제 4단계중 주로 유통을 통하…</a:t>
            </a:r>
          </a:p>
          <a:p>
            <a:pPr>
              <a:spcAft>
                <a:spcPts val="1000"/>
              </a:spcAft>
            </a:pPr>
            <a:r>
              <a:rPr sz="1600">
                <a:solidFill>
                  <a:srgbClr val="ECE4D2"/>
                </a:solidFill>
              </a:rPr>
              <a:t>•  서교의 교리를 경제와 관련하여 살펴보면 서교가 유통을 상징한다 할 수 있는 것은 같은 유일신을 믿는 종교인 이슬람과 달리 “이자(利子)”를 인정한다는 것이다. 서구자본주의는 단순히 재사용을 위한 저축을 넘어서 “이자”를 인정함으로써 시작되었다 할 수 있다. 칼빈이 인정한 이자는 동일…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Ⅱ.5. 서교(西敎) 서구자본주의와 공동체주의적 재화관</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화폐의 다른 표현인 “돈”이라는 것은 순환을 상징하며 박애는 가장 “돈”의 속성에 어울리는 교리체계를 가지고 있다. 실제 서교의 선교사는 마테오리치처럼 전 세계를 다니며 서교를 유통시켰다. 서교의 유일신 사상은 화폐와 같이 단일한 기준으로 모든 것을 통일시키는 사상을 가졌다.</a:t>
            </a:r>
          </a:p>
          <a:p>
            <a:pPr>
              <a:spcAft>
                <a:spcPts val="1000"/>
              </a:spcAft>
            </a:pPr>
            <a:r>
              <a:rPr sz="1600">
                <a:solidFill>
                  <a:srgbClr val="ECE4D2"/>
                </a:solidFill>
              </a:rPr>
              <a:t>•  서교의 국가관을 살펴본다면 공동체주의 윤리학의 국가관과 같이 국가는 적극 공동체의 이상을 실현하는 장소가 된다. 서교가 교황과 왕이라는 이원적 체제의 종교이지만 왕이 국가에서 공동체의 이상을 실현할 수 있다. 서교의 국가관은 공동체를 통한 지상천국을 지향한다 할 수 있다.</a:t>
            </a:r>
          </a:p>
          <a:p>
            <a:pPr>
              <a:spcAft>
                <a:spcPts val="1000"/>
              </a:spcAft>
            </a:pPr>
            <a:r>
              <a:rPr sz="1600">
                <a:solidFill>
                  <a:srgbClr val="ECE4D2"/>
                </a:solidFill>
              </a:rPr>
              <a:t>•  서교의 사회관을 본다면 독립적인 각 개별주체들이 비판적으로 시장경제를 바라보고 공동선을 주장한다는 점에서 공동체주의와 가깝다 할 수 있다. 공동체 주의는 사회계약주의와 달리 사회연대를 이해타산이 아니라 역사적으로 이루어진 감정 공동체로 여긴다. 서교는 가족을 중시하지 않으므로 모두…</a:t>
            </a:r>
          </a:p>
          <a:p>
            <a:pPr>
              <a:spcAft>
                <a:spcPts val="1000"/>
              </a:spcAft>
            </a:pPr>
            <a:r>
              <a:rPr sz="1600">
                <a:solidFill>
                  <a:srgbClr val="ECE4D2"/>
                </a:solidFill>
              </a:rPr>
              <a:t>•  서교 서구자본주의의 가치론을 살펴 본다면 서교의 유통-재화관과 가장 가까운 가치론은 문화가치론 혹은 상징가치론이라 할 수 있다. 가장 필요한 사람에게 유통시켜 가장 높은 효용을 끌어내는 한계효용의 법칙은 유통을 통한 박애라는 증여의 실천으로 이루어지며 이때 교환가치, 사용가치, 기호…</a:t>
            </a:r>
          </a:p>
          <a:p>
            <a:pPr>
              <a:spcAft>
                <a:spcPts val="1000"/>
              </a:spcAft>
            </a:pPr>
            <a:r>
              <a:rPr sz="1600">
                <a:solidFill>
                  <a:srgbClr val="ECE4D2"/>
                </a:solidFill>
              </a:rPr>
              <a:t>•  서교의 박애론은 생산의 단계에서 유통, 소비의 단계로 가는 첫 단계가 된다. 특히 증여의 논리가 작동되어 상품의 가치는 상징가치로 굳어지기 시작한다. 기호학적인 신분의 차이를 나타나는 데 가지 발전했던 상품의 변화는 유통되면서 상징가치로 굳어지고 영(靈)적 자본이 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 종지에 나타난 순환적 경제관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Ⅲ.1. 역(易)과 대순 사상의 원형적(圓形的) 순환성</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Ⅲ.1. 역(易)과 대순 사상의 원형적(圓形的) 순환성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원(圓)과 순환은 대순 사상의 숨겨진 중요한 원리라 할 수 있다. 대순 사상에서 원 및 원과 관련된 윤회, 순환이 각각 한 번씩 언급되는데 대순 사상의 핵심원리라 할 수 있는 무극, 태극, 대순 그리고 천지의 도, 경제와 관련되어 언급된다.</a:t>
            </a:r>
          </a:p>
          <a:p>
            <a:pPr>
              <a:spcAft>
                <a:spcPts val="1000"/>
              </a:spcAft>
            </a:pPr>
            <a:r>
              <a:rPr sz="1600">
                <a:solidFill>
                  <a:srgbClr val="ECE4D2"/>
                </a:solidFill>
              </a:rPr>
              <a:t>•  순환은 동양과 서양의 이론을 구분하는 중요한 기준이 된다. 서양은 만물을 쪼개고 분석하는 감산적 방법으로 물질의 최소입자를 찾아내는 환원주의적 연구를 한다면 동양은 물질의 결합을 관찰하여 물질전체의 순환을 찾아내어 전체 순환에서 차지하는 역할로 그 물질을 규정하는 전일주의적 방법을…</a:t>
            </a:r>
          </a:p>
          <a:p>
            <a:pPr>
              <a:spcAft>
                <a:spcPts val="1000"/>
              </a:spcAft>
            </a:pPr>
            <a:r>
              <a:rPr sz="1600">
                <a:solidFill>
                  <a:srgbClr val="ECE4D2"/>
                </a:solidFill>
              </a:rPr>
              <a:t>•  서양의 경우 자연의 순환성은 러셀에 의해 러셀역설로 증명됨으로써 서양과학에 편입되었다. 러셀은‘크레타 사람이 모두 거짓말쟁이인데 크레타사람인 이발사가 자신이 거짓말쟁이라고 한다면 그 이발사는 거짓말쟁이인가 아닌가’하는 거짓말쟁이 역설을 이용해 자기언급 혹은 자기조직화를 하는 우주는…</a:t>
            </a:r>
          </a:p>
          <a:p>
            <a:pPr>
              <a:spcAft>
                <a:spcPts val="1000"/>
              </a:spcAft>
            </a:pPr>
            <a:r>
              <a:rPr sz="1600">
                <a:solidFill>
                  <a:srgbClr val="ECE4D2"/>
                </a:solidFill>
              </a:rPr>
              <a:t>•  반면 서양의 불완전성 증명이 발견되고 아울러 수리논리학이 발달하자 동양 역(易)의 전통적인 원형이정 순환론의 과학성이 명쾌하게 드러났다. 동양의 순환 모델인 오행은 상극상생의 최소체계로 증명 되었다. 만물을 전일적으로 바라볼 때 가장 근원적인 관계는 상극-상생관계이고 상극-상생 관계…</a:t>
            </a:r>
          </a:p>
          <a:p>
            <a:pPr>
              <a:spcAft>
                <a:spcPts val="1000"/>
              </a:spcAft>
            </a:pPr>
            <a:r>
              <a:rPr sz="1600">
                <a:solidFill>
                  <a:srgbClr val="ECE4D2"/>
                </a:solidFill>
              </a:rPr>
              <a:t>•  음과 양처럼, 오행은 모든 현상에서 발견된다. 그리고 둘의 조화는 두 번째 물리적 법칙이다. 한 위상은 그 다음 위상을 낳는다. 물은 나무를 낳고 나무는 불을 낳고 불은 흙을, 흙은 광석을, 광석은 물을 낳는다. 이 생산적인 순환과 반대되는 파괴적 순환이 있는데 물과 불이 대립하고,…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Ⅲ.1. 역(易)과 대순 사상의 원형적(圓形的) 순환성</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현재 동양과학으로 알고 있는 음양오행은 음양과 오행이 합하여진 한무제의 동중서 이후에 집중된다. 한무제 이전에도 은나라의 갑골문자에 나타나듯이 날짜에 간지를 붙여 천문을 계산하여 왔으나 대중화되고 본격화된 것은 음양오행설이 확립된 이후부터이다. 음양오행설의 확립은 뉴튼의 만유인력과…</a:t>
            </a:r>
          </a:p>
          <a:p>
            <a:pPr>
              <a:spcAft>
                <a:spcPts val="1000"/>
              </a:spcAft>
            </a:pPr>
            <a:r>
              <a:rPr sz="1600">
                <a:solidFill>
                  <a:srgbClr val="ECE4D2"/>
                </a:solidFill>
              </a:rPr>
              <a:t>•  일단 동양의 오행과 8괘가 순환성을 이루기 위한 가장 경제적인 모델임을 증명했지만 동양은 이에 한 걸음 더 나아가서 순환내부의 성격을 음양과 4상으로 구분하고 10간12지, 64괘등으로 확대한다. 같은 동서남북이라도 직선적인 서양은 방향만 있지만 순환론적인 동양은 봄여름가을겨울이라는…</a:t>
            </a:r>
          </a:p>
          <a:p>
            <a:pPr>
              <a:spcAft>
                <a:spcPts val="1000"/>
              </a:spcAft>
            </a:pPr>
            <a:r>
              <a:rPr sz="1600">
                <a:solidFill>
                  <a:srgbClr val="ECE4D2"/>
                </a:solidFill>
              </a:rPr>
              <a:t>•  [그림3.1] 삼행, 사행, 육행이 대칭을 이루지 못하는 이유</a:t>
            </a:r>
          </a:p>
          <a:p>
            <a:pPr>
              <a:spcAft>
                <a:spcPts val="1000"/>
              </a:spcAft>
            </a:pPr>
            <a:r>
              <a:rPr sz="1600">
                <a:solidFill>
                  <a:srgbClr val="ECE4D2"/>
                </a:solidFill>
              </a:rPr>
              <a:t>•  [그림3.2] 칠행이 대칭을 이루지 못하는 이유  [그림3.3] 팔행 상생 상극도</a:t>
            </a:r>
          </a:p>
          <a:p>
            <a:pPr>
              <a:spcAft>
                <a:spcPts val="1000"/>
              </a:spcAft>
            </a:pPr>
            <a:r>
              <a:rPr sz="1600">
                <a:solidFill>
                  <a:srgbClr val="ECE4D2"/>
                </a:solidFill>
              </a:rPr>
              <a:t>•  원자론과 음양오행을 비교한다면 원자론은 프로이트의 정신분석학처럼 환원주의이므로 감산하고 음양오행은 융의 분석심리학처럼 가산한다. 그 동안 음양오행의 순환론은 실제에는 적용되었지만 환원주의 이론의 틀에 맞지 않아 과학성을 의심받았으나 가산적인 복잡계 과학의 출현으로 새로운 과학의 총아…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Ⅲ.2. 대대적(待對的) 자유지상주의 재부관과 음양합덕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Ⅲ.2. 대대적(待對的) 자유지상주의 재부관과 음양합덕</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대순 사상의 순환적 경제관은 &lt;표2.2&gt;도덕철학의 위상에 나타난 경제학과 윤리학의 관계에서 잘 나타난다.</a:t>
            </a:r>
          </a:p>
          <a:p>
            <a:pPr>
              <a:spcAft>
                <a:spcPts val="1000"/>
              </a:spcAft>
            </a:pPr>
            <a:r>
              <a:rPr sz="1600">
                <a:solidFill>
                  <a:srgbClr val="ECE4D2"/>
                </a:solidFill>
              </a:rPr>
              <a:t>•  &lt;표3.9&gt;에서 ③제도진화론(역사학파경제학)과 ⑥시장균형론(이론경제학)은 경제학의 영역이고 ①자유지상주의, ②사회계약주의, ④공리주의, ⑤공동체주의는 경제윤리라고 할 때 경제학과 경제윤리는 상호 정확히 대대적인 관계에 있다.</a:t>
            </a:r>
          </a:p>
          <a:p>
            <a:pPr>
              <a:spcAft>
                <a:spcPts val="1000"/>
              </a:spcAft>
            </a:pPr>
            <a:r>
              <a:rPr sz="1600">
                <a:solidFill>
                  <a:srgbClr val="ECE4D2"/>
                </a:solidFill>
              </a:rPr>
              <a:t>•  수평으로 표를 본다면 경제학은 이론의 영역이고 윤리는 실천의 영역이므로 위 표 &lt;표3.9&gt;는 개인주의의 경우 이상적인 시장균형을 이루기 위한 수단은 자유에 기반한 자유지상주의나 정의에 기반한 사회계약주의의 실천이라 할 수 있다.</a:t>
            </a:r>
          </a:p>
          <a:p>
            <a:pPr>
              <a:spcAft>
                <a:spcPts val="1000"/>
              </a:spcAft>
            </a:pPr>
            <a:r>
              <a:rPr sz="1600">
                <a:solidFill>
                  <a:srgbClr val="ECE4D2"/>
                </a:solidFill>
              </a:rPr>
              <a:t>•  &lt;표3.9&gt; 대대적 자유지상주의 재부관의 순환</a:t>
            </a:r>
          </a:p>
          <a:p>
            <a:pPr>
              <a:spcAft>
                <a:spcPts val="1000"/>
              </a:spcAft>
            </a:pPr>
            <a:r>
              <a:rPr sz="1600">
                <a:solidFill>
                  <a:srgbClr val="ECE4D2"/>
                </a:solidFill>
              </a:rPr>
              <a:t>•  | 방법＼가치 | 선(善)-제도 내 질서 | | 정(正)-제도의 기초구조 |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Ⅲ.2. 대대적(待對的) 자유지상주의 재부관과 음양합덕</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 :---: | :---: | :---: | :---: | :---: |</a:t>
            </a:r>
          </a:p>
          <a:p>
            <a:pPr>
              <a:spcAft>
                <a:spcPts val="1000"/>
              </a:spcAft>
            </a:pPr>
            <a:r>
              <a:rPr sz="1600">
                <a:solidFill>
                  <a:srgbClr val="ECE4D2"/>
                </a:solidFill>
              </a:rPr>
              <a:t>•  | 개인주의 | ⑥시장균형론(이론경제학) | | ②사회계약주의 (정의) | ①자유지상주의(자유) |</a:t>
            </a:r>
          </a:p>
          <a:p>
            <a:pPr>
              <a:spcAft>
                <a:spcPts val="1000"/>
              </a:spcAft>
            </a:pPr>
            <a:r>
              <a:rPr sz="1600">
                <a:solidFill>
                  <a:srgbClr val="ECE4D2"/>
                </a:solidFill>
              </a:rPr>
              <a:t>•  | 전체주의 | ④공리주의 (효율) | ⑤공동체주의 (덕) | ③제도진화론(역사학파경제학) | |</a:t>
            </a:r>
          </a:p>
          <a:p>
            <a:pPr>
              <a:spcAft>
                <a:spcPts val="1000"/>
              </a:spcAft>
            </a:pPr>
            <a:r>
              <a:rPr sz="1600">
                <a:solidFill>
                  <a:srgbClr val="ECE4D2"/>
                </a:solidFill>
              </a:rPr>
              <a:t>•  또 표를 수직적으로 보면 자유에 기반한 자유지상주의나 정의에 기반한 사회계약주의가 실천을 통하여 시장균형에 이르기 위해서는 제도진화론(역사학파경제학)에 기반한 실천을 해야 함을 보여준다. 예를 들어 프랑스대혁명과 같이 모두가 공평한 균형에 이르기 위해서는 개인의 자유로운 발전을 위해…</a:t>
            </a:r>
          </a:p>
          <a:p>
            <a:pPr>
              <a:spcAft>
                <a:spcPts val="1000"/>
              </a:spcAft>
            </a:pPr>
            <a:r>
              <a:rPr sz="1600">
                <a:solidFill>
                  <a:srgbClr val="ECE4D2"/>
                </a:solidFill>
              </a:rPr>
              <a:t>•  대순 사상에서는 도솔허무적멸이조(兜率虛無寂滅以詔)라 하여 ①자유지상주의, ②사회계약주의, ④공리주의, ⑤공동체주의의 연원이라 할 수 있는 유교, 불교, 도교를 봄, 여름, 가을, 겨울과 같이 모두 거느리고 순환시킬 줄 알아야 개인과 사회가 발전할 수 있다고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Ⅲ.3. 회귀적(回歸的) 사회계약주의 분배관과 신인조화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Ⅲ.3. 회귀적(回歸的) 사회계약주의 분배관과 신인조화</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&lt;표2.2&gt;도덕철학의 위상에서 사회계약주의를 기준으로 살펴보면 회귀적 사회계약주의는 &lt;표3.11&gt;에서 ①②④⑤의 순으로 분석담론처럼 순환한다.</a:t>
            </a:r>
          </a:p>
          <a:p>
            <a:pPr>
              <a:spcAft>
                <a:spcPts val="1000"/>
              </a:spcAft>
            </a:pPr>
            <a:r>
              <a:rPr sz="1600">
                <a:solidFill>
                  <a:srgbClr val="ECE4D2"/>
                </a:solidFill>
              </a:rPr>
              <a:t>•  표&lt;3.11&gt;은 정의에 기반한 ①사회계약주의가 실천을 통하여 ⑥시장균형에 이르기 위해서는 ③제도진화론(역사학파경제학)에 기반한 실천을 해야 함을 보여준다.</a:t>
            </a:r>
          </a:p>
          <a:p>
            <a:pPr>
              <a:spcAft>
                <a:spcPts val="1000"/>
              </a:spcAft>
            </a:pPr>
            <a:r>
              <a:rPr sz="1600">
                <a:solidFill>
                  <a:srgbClr val="ECE4D2"/>
                </a:solidFill>
              </a:rPr>
              <a:t>•  예를 들어 사회복지와 같이 모두가 공평한 균형에 이르기 위해서는 사회의 정의실현을 위해 자기 의무를 성실히 수행하고 자유에의 의지를 소생시키고(②자유지상주의) 타인을 제재하는 행위(③제도진화론)가 있어야 ④공리주의와 ⑤공동체주의를 형성하게 하며 다시 ④공리주의와 ⑤공동체주의가 ⑥시장…</a:t>
            </a:r>
          </a:p>
          <a:p>
            <a:pPr>
              <a:spcAft>
                <a:spcPts val="1000"/>
              </a:spcAft>
            </a:pPr>
            <a:r>
              <a:rPr sz="1600">
                <a:solidFill>
                  <a:srgbClr val="ECE4D2"/>
                </a:solidFill>
              </a:rPr>
              <a:t>•  &lt;표3.11&gt;에서 사회계약주의의 경우 방법론적으로는 자유지상주의와 같이 개인주의의 영역, 가치론적으로 보면 제도의 기초구조를 개혁하려는 정(正)의 영역에 있음에도 본연의 기능인 제도의 기초구조를 바꾸는 사회정의가 실현 되지 않아 지금까지 이론경제학의 시장균형론의 한계에서 체제 내 정…</a:t>
            </a:r>
          </a:p>
          <a:p>
            <a:pPr>
              <a:spcAft>
                <a:spcPts val="1000"/>
              </a:spcAft>
            </a:pPr>
            <a:r>
              <a:rPr sz="1600">
                <a:solidFill>
                  <a:srgbClr val="ECE4D2"/>
                </a:solidFill>
              </a:rPr>
              <a:t>•  &lt;표3.11&gt; 회귀적 사회계약주의 분배관의 순환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Ⅲ.3. 회귀적(回歸的) 사회계약주의 분배관과 신인조화</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 방법＼가치 | 선(善)-제도 내 질서 | | 정(正)-제도의 기초구조 | |</a:t>
            </a:r>
          </a:p>
          <a:p>
            <a:pPr>
              <a:spcAft>
                <a:spcPts val="1000"/>
              </a:spcAft>
            </a:pPr>
            <a:r>
              <a:rPr sz="1600">
                <a:solidFill>
                  <a:srgbClr val="ECE4D2"/>
                </a:solidFill>
              </a:rPr>
              <a:t>•  | :---: | :---: | :---: | :---: | :---: |</a:t>
            </a:r>
          </a:p>
          <a:p>
            <a:pPr>
              <a:spcAft>
                <a:spcPts val="1000"/>
              </a:spcAft>
            </a:pPr>
            <a:r>
              <a:rPr sz="1600">
                <a:solidFill>
                  <a:srgbClr val="ECE4D2"/>
                </a:solidFill>
              </a:rPr>
              <a:t>•  | 개인주의 | ⑥시장균형론(이론경제학) | | ①사회계약주의 (정의) | ②자유지상주의(자유) |</a:t>
            </a:r>
          </a:p>
          <a:p>
            <a:pPr>
              <a:spcAft>
                <a:spcPts val="1000"/>
              </a:spcAft>
            </a:pPr>
            <a:r>
              <a:rPr sz="1600">
                <a:solidFill>
                  <a:srgbClr val="ECE4D2"/>
                </a:solidFill>
              </a:rPr>
              <a:t>•  | 전체주의 | ④공리주의 (효율) | ⑤공동체주의 (덕) | ③제도진화론(역사학파경제학) | |</a:t>
            </a:r>
          </a:p>
          <a:p>
            <a:pPr>
              <a:spcAft>
                <a:spcPts val="1000"/>
              </a:spcAft>
            </a:pPr>
            <a:r>
              <a:rPr sz="1600">
                <a:solidFill>
                  <a:srgbClr val="ECE4D2"/>
                </a:solidFill>
              </a:rPr>
              <a:t>•  사회계약주의의 경우 정의란 제도의 기초구조를 바꿀 수 있는 정의로서 그 동안 사회계약주의가 사회윤리의 주요관심사로 자리 잡을 수 있었던 이유이기도 하다. 대순의 순환적 경제관에서는 사회계약주의 분배관에 대한 대안으로 신인조화에 기반한 회귀적 사회계약주의 분배관을 제시한다.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Ⅲ.4. 중화적(中和的) 공리주의 노동관과 해원상생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Ⅲ.4. 중화적(中和的) 공리주의 노동관과 해원상생</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&lt;표2.2&gt;도덕철학의 위상에서 공리주의를 기준으로 살펴보면 중화적 공리주의는 &lt;표3.13&gt;과 같이 ①②⑤④의 순으로 주인담론처럼 순환한다.</a:t>
            </a:r>
          </a:p>
          <a:p>
            <a:pPr>
              <a:spcAft>
                <a:spcPts val="1000"/>
              </a:spcAft>
            </a:pPr>
            <a:r>
              <a:rPr sz="1600">
                <a:solidFill>
                  <a:srgbClr val="ECE4D2"/>
                </a:solidFill>
              </a:rPr>
              <a:t>•  &lt;표3.13&gt; 중화적 공리주의 노동관의 순환</a:t>
            </a:r>
          </a:p>
          <a:p>
            <a:pPr>
              <a:spcAft>
                <a:spcPts val="1000"/>
              </a:spcAft>
            </a:pPr>
            <a:r>
              <a:rPr sz="1600">
                <a:solidFill>
                  <a:srgbClr val="ECE4D2"/>
                </a:solidFill>
              </a:rPr>
              <a:t>•  | 방법＼가치 | 선(善)-제도 내 질서 | | 정(正)-제도의 기초구조 | |</a:t>
            </a:r>
          </a:p>
          <a:p>
            <a:pPr>
              <a:spcAft>
                <a:spcPts val="1000"/>
              </a:spcAft>
            </a:pPr>
            <a:r>
              <a:rPr sz="1600">
                <a:solidFill>
                  <a:srgbClr val="ECE4D2"/>
                </a:solidFill>
              </a:rPr>
              <a:t>•  | :---: | :---: | :---: | :---: | :---: |</a:t>
            </a:r>
          </a:p>
          <a:p>
            <a:pPr>
              <a:spcAft>
                <a:spcPts val="1000"/>
              </a:spcAft>
            </a:pPr>
            <a:r>
              <a:rPr sz="1600">
                <a:solidFill>
                  <a:srgbClr val="ECE4D2"/>
                </a:solidFill>
              </a:rPr>
              <a:t>•  | 개인주의 | ③시장균형론(이론경제학) | | ⑤사회계약주의 (정의) | ④자유지상주의(자유)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Ⅲ.4. 중화적(中和的) 공리주의 노동관과 해원상생</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 전체주의 | ①공리주의 (효율) | ②공동체주의 (덕) | ⑥제도진화론(역사학파경제학) | |</a:t>
            </a:r>
          </a:p>
          <a:p>
            <a:pPr>
              <a:spcAft>
                <a:spcPts val="1000"/>
              </a:spcAft>
            </a:pPr>
            <a:r>
              <a:rPr sz="1600">
                <a:solidFill>
                  <a:srgbClr val="ECE4D2"/>
                </a:solidFill>
              </a:rPr>
              <a:t>•  위 표는 효율에 기반한 ①공리주의가 실천을 통하여 ⑥제도진화에 이르기 위해서는 ③시장균형론(이론경제학)에 기반한 실천을 해야 함을 보여준다. 예를 들어 인터넷참정권과 같이 모두가 유리한 제도 진화에 이르기 위해서는 시장의 효율성 실현을 위해 공동체의 소수자를 성실히 보호하고 공동체의…</a:t>
            </a:r>
          </a:p>
          <a:p>
            <a:pPr>
              <a:spcAft>
                <a:spcPts val="1000"/>
              </a:spcAft>
            </a:pPr>
            <a:r>
              <a:rPr sz="1600">
                <a:solidFill>
                  <a:srgbClr val="ECE4D2"/>
                </a:solidFill>
              </a:rPr>
              <a:t>•  &lt;표3.13&gt;에서 공리주의의 경우 방법론적으로는 공동체주의와 같이 전체주의의 영역, 가치론적으로 보면 제도의 기초구조를 개혁하려는 정(正)의 영역에 있음에도 본연의 기능인 제도 내 질서에서 최선을 실현 하지 않고 지금까지 역사학파경제학의 제도진화론의 한계에서 체제 밖 효율을 모색하다…</a:t>
            </a:r>
          </a:p>
          <a:p>
            <a:pPr>
              <a:spcAft>
                <a:spcPts val="1000"/>
              </a:spcAft>
            </a:pPr>
            <a:r>
              <a:rPr sz="1600">
                <a:solidFill>
                  <a:srgbClr val="ECE4D2"/>
                </a:solidFill>
              </a:rPr>
              <a:t>•  공리주의의 경우 공리란 공동체의 이익으로 제도 내의 질서를 가장 효율화할 수 있는 수단으로서 그 동안 공리주의가 공동체의 주요관심사로 자리 잡을 수 있었던 이유이기도 하다. 대순의 순환적 경제관에서는 공리주의 노동관에 대한 대안으로 해원상생에 기반한 중화적 공리주의 노동관을 제시한다.</a:t>
            </a:r>
          </a:p>
          <a:p>
            <a:pPr>
              <a:spcAft>
                <a:spcPts val="1000"/>
              </a:spcAft>
            </a:pPr>
            <a:r>
              <a:rPr sz="1600">
                <a:solidFill>
                  <a:srgbClr val="ECE4D2"/>
                </a:solidFill>
              </a:rPr>
              <a:t>•  공리주의의 관건은 다수의 횡포에 대한 소수의 이익을 얼마나 보상해 줄 수 있느냐의 문제로 귀결된다 할 때, 공리주의에서는 지나친 효율성 존중에 의한 소수자의 피해의식이 문제였다면 해원상생의 중화성에 기반한 중화적 노동관은 공리주의 본연의 제도 내 효율성의 취지를 잘 살리며 현실적인…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Ⅲ. 종지에 나타난 순환적 경제관</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Ⅲ.5. 유행적(流行的) 공동체주의 재화관과 도통진경</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Ⅲ.5. 유행적(流行的) 공동체주의 재화관과 도통진경</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&lt;표2.2&gt;도덕철학의 위상에서 공동체주의를 기준으로 살펴보면 유행적 공동체주의는 &lt;그림3.16&gt;의 대학담론과 같이 ①⑤④②의 순으로 순환한다.</a:t>
            </a:r>
          </a:p>
          <a:p>
            <a:pPr>
              <a:spcAft>
                <a:spcPts val="1000"/>
              </a:spcAft>
            </a:pPr>
            <a:r>
              <a:rPr sz="1600">
                <a:solidFill>
                  <a:srgbClr val="ECE4D2"/>
                </a:solidFill>
              </a:rPr>
              <a:t>•  &lt;표3.15&gt;는 덕에 기반한 ①공동체주의가 실천을 통하여 ⑥제도진화에 이르기 위해서는 ③시장균형론(이론경제학)에 기반한 실천을 해야 함을 보여준다. 예를 들어 환경문제와 같이 모두가 유리한 제도 진화에 이르기 위해서는 시장의 효율성 실현을 위해 공동체의 결속을 든든히 하고 공동체의…</a:t>
            </a:r>
          </a:p>
          <a:p>
            <a:pPr>
              <a:spcAft>
                <a:spcPts val="1000"/>
              </a:spcAft>
            </a:pPr>
            <a:r>
              <a:rPr sz="1600">
                <a:solidFill>
                  <a:srgbClr val="ECE4D2"/>
                </a:solidFill>
              </a:rPr>
              <a:t>•  이때 ①공동체주의가 ③시장균형론의 결론에 동참하는 행위에서 공동체의 이익을 해치지 않고 공동체의 탁월함을 보호하는 것을 도통진경이라 할 수 있다. 도통진경이란 두 가지 이상의 체계가 서로 유행적으로 작용하면서 순환이 되는 경우를 말한다.</a:t>
            </a:r>
          </a:p>
          <a:p>
            <a:pPr>
              <a:spcAft>
                <a:spcPts val="1000"/>
              </a:spcAft>
            </a:pPr>
            <a:r>
              <a:rPr sz="1600">
                <a:solidFill>
                  <a:srgbClr val="ECE4D2"/>
                </a:solidFill>
              </a:rPr>
              <a:t>•  &lt;표3.15&gt; 유행적 공동체주의 재화관의 순환</a:t>
            </a:r>
          </a:p>
          <a:p>
            <a:pPr>
              <a:spcAft>
                <a:spcPts val="1000"/>
              </a:spcAft>
            </a:pPr>
            <a:r>
              <a:rPr sz="1600">
                <a:solidFill>
                  <a:srgbClr val="ECE4D2"/>
                </a:solidFill>
              </a:rPr>
              <a:t>•  | 방법＼가치 | 선(善)-제도 내 질서 | | 정(正)-제도의 기초구조 |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Ⅲ.5. 유행적(流行的) 공동체주의 재화관과 도통진경</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 :---: | :---: | :---: | :---: | :---: |</a:t>
            </a:r>
          </a:p>
          <a:p>
            <a:pPr>
              <a:spcAft>
                <a:spcPts val="1000"/>
              </a:spcAft>
            </a:pPr>
            <a:r>
              <a:rPr sz="1600">
                <a:solidFill>
                  <a:srgbClr val="ECE4D2"/>
                </a:solidFill>
              </a:rPr>
              <a:t>•  | 개인주의 | ③시장균형론(이론경제학) | | ⑤사회계약주의 (정의) | ④자유지상주의(자유) |</a:t>
            </a:r>
          </a:p>
          <a:p>
            <a:pPr>
              <a:spcAft>
                <a:spcPts val="1000"/>
              </a:spcAft>
            </a:pPr>
            <a:r>
              <a:rPr sz="1600">
                <a:solidFill>
                  <a:srgbClr val="ECE4D2"/>
                </a:solidFill>
              </a:rPr>
              <a:t>•  | 전체주의 | ②공리주의 (효율) | ①공동체주의 (덕) | ⑥제도진화론(역사학파경제학) | |</a:t>
            </a:r>
          </a:p>
          <a:p>
            <a:pPr>
              <a:spcAft>
                <a:spcPts val="1000"/>
              </a:spcAft>
            </a:pPr>
            <a:r>
              <a:rPr sz="1600">
                <a:solidFill>
                  <a:srgbClr val="ECE4D2"/>
                </a:solidFill>
              </a:rPr>
              <a:t>•  &lt;표3.15&gt;에서 공동체주의의 경우 방법론적으로는 공리주의와 같이 전체주의의 영역, 가치론적으로 보면 제도의 질서에서 만족하는 선(善)의 영역에 있음에도 본연의 기능인 제도 내 질서에서 최선을 실현 하지 않고 지금까지 역사학파경제학의 제도진화론의 한계에서 체제 밖 정의를 모색하다가…</a:t>
            </a:r>
          </a:p>
          <a:p>
            <a:pPr>
              <a:spcAft>
                <a:spcPts val="1000"/>
              </a:spcAft>
            </a:pPr>
            <a:r>
              <a:rPr sz="1600">
                <a:solidFill>
                  <a:srgbClr val="ECE4D2"/>
                </a:solidFill>
              </a:rPr>
              <a:t>•  공동체주의의 경우 덕이란 공동체의 탁월성으로 제도 내의 덕을 가장 극대화할 수 있는 수단으로서 그 동안 공동체주의가 공동체의 주요관심사로 자리 잡을 수 있었던 이유이기도 하다. 대순의 순환적 경제관에서는 공동체주의 재화관에 대한 대안으로 도통진경에 기반한 유행적 공동체주의 재화관을…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Ⅳ. 대순사상의 순환적 경제관의 가치</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Ⅳ. 대순사상의 순환적 경제관의 가치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Ⅳ. 대순사상의 순환적 경제관의 가치</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Ⅳ.1. 음양합덕과 경제동기의 회복</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Ⅳ.1. 음양합덕과 경제동기의 회복</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음양합덕, 신인조화, 해원상생, 도통진경이라는 대순사상의 순환적 경제관은 각각 경제동기의 회복, 경제윤리의 재생, 경제이념의 조화, 환경위기의 극복이라는 경제문제에 실제적으로 각각 적용된다. 음양합덕에 기반하는 대대적(待對的) 자유지상주의 재부관은 경제동기의 회복, 신인조화에 기반한…</a:t>
            </a:r>
          </a:p>
          <a:p>
            <a:pPr>
              <a:spcAft>
                <a:spcPts val="1000"/>
              </a:spcAft>
            </a:pPr>
            <a:r>
              <a:rPr sz="1600">
                <a:solidFill>
                  <a:srgbClr val="ECE4D2"/>
                </a:solidFill>
              </a:rPr>
              <a:t>•  먼저 음양합덕에 기반하는 대대적(待對的) 자유지상주의 재부관을 경제동기와 관련해서 살펴보면 대대적(待對的) 자유지상주의 재부관은 오늘날 도교자본주의를 발전시킨 자유지상주의가 뜻하지 않게 초래한 경제동기 상실을 순환의 힘으로 회복시킨다.</a:t>
            </a:r>
          </a:p>
          <a:p>
            <a:pPr>
              <a:spcAft>
                <a:spcPts val="1000"/>
              </a:spcAft>
            </a:pPr>
            <a:r>
              <a:rPr sz="1600">
                <a:solidFill>
                  <a:srgbClr val="ECE4D2"/>
                </a:solidFill>
              </a:rPr>
              <a:t>•  최초 자유의 확대라는 경제동기의 문제를 해결하고자 성립했던 도교는 유교의 힘에 눌려 순환론에 치우쳐 있던 중 서양에 전파되어 서교의 적극적 박애정신과 결합하여 프로테스탄티즘과 같은 자유지상주의로 발전, 인류의 경제동기를 크게 진작한다. 그러나 자유지상주의가 진작시킨 인류의 경제 동기…</a:t>
            </a:r>
          </a:p>
          <a:p>
            <a:pPr>
              <a:spcAft>
                <a:spcPts val="1000"/>
              </a:spcAft>
            </a:pPr>
            <a:r>
              <a:rPr sz="1600">
                <a:solidFill>
                  <a:srgbClr val="ECE4D2"/>
                </a:solidFill>
              </a:rPr>
              <a:t>•  인류의 경제동기 위기에 대하여 대순의 대대적 자유지상주의는 오직 시장에서 상품을 구매할 수 있는 자유만을 자유로 규정한 자유지상주의와 달리 경제의 순환성에 입각하여 제도의 기초구조 개혁이라는 자유의 원초적인 힘의 부활을 현대 경제동기위기의 대안으로 제시한다. 대순의 대대적 자유지상주…</a:t>
            </a:r>
          </a:p>
          <a:p>
            <a:pPr>
              <a:spcAft>
                <a:spcPts val="1000"/>
              </a:spcAft>
            </a:pPr>
            <a:r>
              <a:rPr sz="1600">
                <a:solidFill>
                  <a:srgbClr val="ECE4D2"/>
                </a:solidFill>
              </a:rPr>
              <a:t>•  먼저 대순의 대대적 자유지상주의가 도교 자본주의의 순환적 경제동기회복사상을 강조하는 것을 살펴보면 대순사상에서 재부는 순환의 결과이므로 순환을 방해하지 않는 한 재부에 대한 욕망은 대대성(待對性)에 의해 매우 강조된다.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Ⅳ.1. 음양합덕과 경제동기의 회복</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나의 일은 남이 죽을 때 잘 살자는 일이요 남이 잘 살 때에 영화와 복록을 누리자는 일이니라.(『전경』교법1장6절)</a:t>
            </a:r>
          </a:p>
          <a:p>
            <a:pPr>
              <a:spcAft>
                <a:spcPts val="1000"/>
              </a:spcAft>
            </a:pPr>
            <a:r>
              <a:rPr sz="1600">
                <a:solidFill>
                  <a:srgbClr val="ECE4D2"/>
                </a:solidFill>
              </a:rPr>
              <a:t>•  위 글은 자유의 확대라는 경제동기의 회복이 인간의 근원적인 욕망이고 그 욕망은 다른 사람과 비교했을 때에도 더욱 강조되는 중요한 덕목이 됨을 명확히 제시하고 있다. 특히 인간으로서 현실적인 삶과 영화와 복록이라는 자유의 확대를 추구할 것을 강력히 요청하고 있다. 동양의 고전적인 “도…</a:t>
            </a:r>
          </a:p>
          <a:p>
            <a:pPr>
              <a:spcAft>
                <a:spcPts val="1000"/>
              </a:spcAft>
            </a:pPr>
            <a:r>
              <a:rPr sz="1600">
                <a:solidFill>
                  <a:srgbClr val="ECE4D2"/>
                </a:solidFill>
              </a:rPr>
              <a:t>•  다음 대순의 대대적 자유지상주의가 자유지상주의 경제동기 회복의 문제점을 순환성의 위기로 진단하는 것을 살펴보면 대순사상에서 교육은 경제 순환을 위한 핵심관건이므로 순환을 포기하고 관리 봉록 등 현실적 이익에 치우치는 공리 위주의 교육을 매우 비판한다.</a:t>
            </a:r>
          </a:p>
          <a:p>
            <a:pPr>
              <a:spcAft>
                <a:spcPts val="1000"/>
              </a:spcAft>
            </a:pPr>
            <a:r>
              <a:rPr sz="1600">
                <a:solidFill>
                  <a:srgbClr val="ECE4D2"/>
                </a:solidFill>
              </a:rPr>
              <a:t>•  ｢이 세상에 학교를 널리 세워 사람을 가르침은 장차 천하를 크게 문명화하여 삼계의 역사에 붙여 신인(神人)의 해원을 풀려는 것이나, 현하의 학교 교육이 배우는 자로 하여금 관리 봉록 등 비열한 공리에만 빠지게 하니 그러므로 판 밖에서 성도하게 되었느니라｣ 하시고 말씀을 마치셨도다.…</a:t>
            </a:r>
          </a:p>
          <a:p>
            <a:pPr>
              <a:spcAft>
                <a:spcPts val="1000"/>
              </a:spcAft>
            </a:pPr>
            <a:r>
              <a:rPr sz="1600">
                <a:solidFill>
                  <a:srgbClr val="ECE4D2"/>
                </a:solidFill>
              </a:rPr>
              <a:t>•  위 글은 자유지상주의는 자유를 강조하여 유교에 눌려 제대로 발전하지 못한 도교자본주의를 받아 들여 확대 발전시키는 데는 기여하였으나 자유의 기반인 사회를 무시하고 지나치게 자유를 강조하여 오히려 자유의 기반인 사회를 무너뜨려 기본적인 자유마저 무너뜨려 경제동기를 매우 피폐하게 하였음…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Ⅳ. 대순사상의 순환적 경제관의 가치</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Ⅳ.2. 신인조화와 경제윤리의 재생</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Ⅳ.2. 신인조화와 경제윤리의 재생</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신인조화에 기반하는 회귀적(回歸的) 사회계약주의 분배관을 경제윤리와 관련해서 살펴보면 회귀적(回歸的) 사회계약주의 분배관은 오늘날 보살자본주의를 발전시킨 사회계약주의가 뜻하지 않게 초래한 경제윤리 실종을 순환의 힘으로 재생시킨다.</a:t>
            </a:r>
          </a:p>
          <a:p>
            <a:pPr>
              <a:spcAft>
                <a:spcPts val="1000"/>
              </a:spcAft>
            </a:pPr>
            <a:r>
              <a:rPr sz="1600">
                <a:solidFill>
                  <a:srgbClr val="ECE4D2"/>
                </a:solidFill>
              </a:rPr>
              <a:t>•  최초 정의의 실현이라는 경제윤리의 문제를 해결하고자 성립했던 불교는 유교의 힘에 눌려 순환론에 치우쳐 있던 중 서양에 전파되어 서교의 적극적 박애정신과 결합하여 칸트주의와 같은 사회계약주의로 발전, 인류의 경제윤리를 크게 진작한다. 그러나 사회계약주의가 진작시킨 인류의 경제 윤리는…</a:t>
            </a:r>
          </a:p>
          <a:p>
            <a:pPr>
              <a:spcAft>
                <a:spcPts val="1000"/>
              </a:spcAft>
            </a:pPr>
            <a:r>
              <a:rPr sz="1600">
                <a:solidFill>
                  <a:srgbClr val="ECE4D2"/>
                </a:solidFill>
              </a:rPr>
              <a:t>•  인류의 경제윤리 위기에 대하여 대순의 회귀적 사회계약주의는 오직 시장에서 남보다 손해를 보지 않는 정의만을 정의로 규정한 서양의 사회계약주의와 달리 경제의 순환성에 입각하여 제도의 기초구조 개혁이라는 정의의 원초적인 힘의 부활을 현대 경제윤리위기의 대안으로 제시한다. 지금까지 논의해…</a:t>
            </a:r>
          </a:p>
          <a:p>
            <a:pPr>
              <a:spcAft>
                <a:spcPts val="1000"/>
              </a:spcAft>
            </a:pPr>
            <a:r>
              <a:rPr sz="1600">
                <a:solidFill>
                  <a:srgbClr val="ECE4D2"/>
                </a:solidFill>
              </a:rPr>
              <a:t>•  먼저 대순의 회귀적 사회계약주의가 보살 자본주의의 순환성 중시 분배관을 부활시켜 경제윤리를 진작시키는 것을 살펴보면 대순사상에서 분배는 순환의 결과이므로 순환을 방해하지 않는 한 분배에 대한 욕망은 회귀성(回歸性)에 의해 매우 강조된다.</a:t>
            </a:r>
          </a:p>
          <a:p>
            <a:pPr>
              <a:spcAft>
                <a:spcPts val="1000"/>
              </a:spcAft>
            </a:pPr>
            <a:r>
              <a:rPr sz="1600">
                <a:solidFill>
                  <a:srgbClr val="ECE4D2"/>
                </a:solidFill>
              </a:rPr>
              <a:t>•  상제께서 비천한 사람에게도 반드시 존댓말을 쓰셨도다. 김 형렬은 자기 머슴 지 남식을 대하실 때마다 존댓말을 쓰시는 상제를 대하기에 매우 민망스러워 ｢이 사람은 저의 머슴이오니 말씀을 낮추시옵소서｣ 하고 청하니라. 이에 상제께서 ｢그 사람은 그대의 머슴이지 나와 무슨 관계가 있나뇨.…</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Ⅳ.2. 신인조화와 경제윤리의 재생</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위 글은 기본적 정의에 관한 사회계약주의적 분배관을 인정하고 있다. 기본적 정의는 또한 공정한 기회 균등으로 이어진다. 불교의 인과응보와 같은 연기론처럼 순환론인 대순 사상에서도 버림을 받고 명색이 없던 것을 원인으로 해서 기회가 공평하게 돌아간다. 공정한 기회균등은 자존감의 사회적…</a:t>
            </a:r>
          </a:p>
          <a:p>
            <a:pPr>
              <a:spcAft>
                <a:spcPts val="1000"/>
              </a:spcAft>
            </a:pPr>
            <a:r>
              <a:rPr sz="1600">
                <a:solidFill>
                  <a:srgbClr val="ECE4D2"/>
                </a:solidFill>
              </a:rPr>
              <a:t>•  다음 대순의 회귀적 사회계약주의가 사회계약주의 경제윤리 재생의 문제점을 순환성의 위기로 진단하는 것을 살펴보면 대순사상에서 공정(公正)은 경제 순환을 위한 핵심관건이므로 외면 수습 등 공동체적 참여를 부정하는 사회계약주의적 인사(人事)를 매우 비판한다.</a:t>
            </a:r>
          </a:p>
          <a:p>
            <a:pPr>
              <a:spcAft>
                <a:spcPts val="1000"/>
              </a:spcAft>
            </a:pPr>
            <a:r>
              <a:rPr sz="1600">
                <a:solidFill>
                  <a:srgbClr val="ECE4D2"/>
                </a:solidFill>
              </a:rPr>
              <a:t>•  이와 같이 범사가 풀린 후에 상제께서 경오에게 ｢내가 그대에게 돈 七十냥이 있음을 알고 청구한 것인바 왜 그렇게 속이느뇨｣라고 말씀하시니 그가 정색하여 ｢참으로 없었나이다｣고 여쭈니라. 그 이튿날 경오의 집에 화적이 들어 그 돈을 모두 잃었도다. 그 사실을 들으시고 상제께서 가라사대…</a:t>
            </a:r>
          </a:p>
          <a:p>
            <a:pPr>
              <a:spcAft>
                <a:spcPts val="1000"/>
              </a:spcAft>
            </a:pPr>
            <a:r>
              <a:rPr sz="1600">
                <a:solidFill>
                  <a:srgbClr val="ECE4D2"/>
                </a:solidFill>
              </a:rPr>
              <a:t>•  위 글은 사회계약주의는 정의를 강조하여 유교에 눌려 제대로 발전하지 못한 보살자본주의를 받아 들여 확대 발전시키는 데는 기여하였으나 정의의 기반인 공동체를 무시하고 지나치게 개인적 의무를 강조하여 오히려 정의의 기반인 사회를 무너뜨려 기본적인 정의마저 무너뜨려 경제윤리를 매우 피폐하…</a:t>
            </a:r>
          </a:p>
          <a:p>
            <a:pPr>
              <a:spcAft>
                <a:spcPts val="1000"/>
              </a:spcAft>
            </a:pPr>
            <a:r>
              <a:rPr sz="1600">
                <a:solidFill>
                  <a:srgbClr val="ECE4D2"/>
                </a:solidFill>
              </a:rPr>
              <a:t>•  다음 대순의 회귀적 사회계약주의가 사회계약주의적 분배관의 경제윤리 위기에 대하여 제시하는 대안을 살펴보면 회귀적 사회계약주의는 개인의 의무수행과 위법자에 대한 제재 중 개인의 의무수행을 우선하는 사회계약주의와 반대로 위법자에 대한 제재 윤리를 우선 제시하는 신인조화를 보여준다. 신인…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Ⅳ. 대순사상의 순환적 경제관의 가치</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Ⅳ.3. 해원상생과 경제이념의 조화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Ⅳ.3. 해원상생과 경제이념의 조화</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해원상생에 기반하는 중화적(中和的) 공리주의 노동관을 경제이념과 관련해서 살펴보면 중화적(中和的) 공리주의 노동관은 오늘날 유교자본주의를 발전시킨 공리주의가 뜻하지 않게 초래한 경제이념 불화을 순환의 힘으로 조화시킨다.</a:t>
            </a:r>
          </a:p>
          <a:p>
            <a:pPr>
              <a:spcAft>
                <a:spcPts val="1000"/>
              </a:spcAft>
            </a:pPr>
            <a:r>
              <a:rPr sz="1600">
                <a:solidFill>
                  <a:srgbClr val="ECE4D2"/>
                </a:solidFill>
              </a:rPr>
              <a:t>•  최초 공익의 실현이라는 경제이념의 문제를 해결하고자 성립했던 유교는 유교 자체의 전헌에 눌려 순환론에 치우쳐 있던 중 서양에 전파되어 서교의 적극적 박애정신과 결합하여 자본주의, 공산주의와 같은 공리주의로 발전, 인류의 경제이념을 크게 진작한다. 그러나 사회계약주의가 진작시킨 인류의…</a:t>
            </a:r>
          </a:p>
          <a:p>
            <a:pPr>
              <a:spcAft>
                <a:spcPts val="1000"/>
              </a:spcAft>
            </a:pPr>
            <a:r>
              <a:rPr sz="1600">
                <a:solidFill>
                  <a:srgbClr val="ECE4D2"/>
                </a:solidFill>
              </a:rPr>
              <a:t>•  인류의 경제이념 위기에 대하여 대순의 중화적 공리주의는 오직 정치에서 남보다 득표를 많이 얻는 공익만을 공익으로 규정한 서양의 공리주의와 달리 경제의 순환성에 입각하여 시장의 효율성 제고라는 공익의 원초적인 힘의 부활을 현대 경제이념위기의 대안으로 제시한다. 지금까지 논의해온 대순의…</a:t>
            </a:r>
          </a:p>
          <a:p>
            <a:pPr>
              <a:spcAft>
                <a:spcPts val="1000"/>
              </a:spcAft>
            </a:pPr>
            <a:r>
              <a:rPr sz="1600">
                <a:solidFill>
                  <a:srgbClr val="ECE4D2"/>
                </a:solidFill>
              </a:rPr>
              <a:t>•  먼저 대순의 중화적 공리주의가 유교자본주의의 순환성 중시 노동관을 부활시켜 경제이념을 진작시키는 것을 살펴보면 대순사상에서 노동-생산은 순환의 결과이므로 순환을 방해하지 않는 한 생산에 대한 욕망은 중화성(中和性)에 의해 매우 강조된다.</a:t>
            </a:r>
          </a:p>
          <a:p>
            <a:pPr>
              <a:spcAft>
                <a:spcPts val="1000"/>
              </a:spcAft>
            </a:pPr>
            <a:r>
              <a:rPr sz="1600">
                <a:solidFill>
                  <a:srgbClr val="ECE4D2"/>
                </a:solidFill>
              </a:rPr>
              <a:t>•  상제께서 기유(己酉)년에 들어서 매화(埋火) 공사를 행하시고 四十九일간 동남풍을 불게 하실 때 四十八일 되는 날 어느 사람이 찾아와서 병을 치료하여 주실 것을 애원하기에 상제께서 공사에 전념하시는 중이므로 응하지 아니하였더니 그 사람이 돌아가서 원망하였도다. 이로부터 동남풍이 멈추므…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Ⅳ.3. 해원상생과 경제이념의 조화</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위 글은 천지공사를 위해서 감수한 소수의 희생도 천지의 기운을 막을 만큼 대(大)를 위해서 소(小)를 희생하는 공리주의의 경우 문제를 많이 일으킨다. 공리주의는 최대다수의 최대행복을 추구하므로 대(大)를 위해서 소(小)를 희생하는 경우가 많다. 그러나 위글은 다수의 이익을 위해서 소…</a:t>
            </a:r>
          </a:p>
          <a:p>
            <a:pPr>
              <a:spcAft>
                <a:spcPts val="1000"/>
              </a:spcAft>
            </a:pPr>
            <a:r>
              <a:rPr sz="1600">
                <a:solidFill>
                  <a:srgbClr val="ECE4D2"/>
                </a:solidFill>
              </a:rPr>
              <a:t>•  다음 대순의 중화적 공리주의가 공리주의 경제이념 조화의 문제점을 순환성의 위기로 진단하는 것을 살펴보면 대순사상에서 효율은 경제 순환을 위한 핵심관건이므로 시장제도내적 효율성을 부정하고 정치적으로 다른 대안을 내세우는 공리주의적 정치를 매우 비판한다.</a:t>
            </a:r>
          </a:p>
          <a:p>
            <a:pPr>
              <a:spcAft>
                <a:spcPts val="1000"/>
              </a:spcAft>
            </a:pPr>
            <a:r>
              <a:rPr sz="1600">
                <a:solidFill>
                  <a:srgbClr val="ECE4D2"/>
                </a:solidFill>
              </a:rPr>
              <a:t>•  원일이 자기 집에 상제를 모시고 성인의 도와 웅패의 술을 말씀 들었도다. 그것은 이러하 였도다.</a:t>
            </a:r>
          </a:p>
          <a:p>
            <a:pPr>
              <a:spcAft>
                <a:spcPts val="1000"/>
              </a:spcAft>
            </a:pPr>
            <a:r>
              <a:rPr sz="1600">
                <a:solidFill>
                  <a:srgbClr val="ECE4D2"/>
                </a:solidFill>
              </a:rPr>
              <a:t>•  ｢제생 의세(濟生醫世)는 성인의 도요 재민 혁세(災民革世)는 웅패의 술이라. 벌써 천하가 웅패가 끼친 괴로움을 받은 지 오래되었도다. 그러므로 이제 내가 상생(相生)의 도로써 화민 정세하리라. 너는 이제부터 마음을 바로 잡으라. 대인을 공부하는 자는 항상 호생의 덕을 쌓아야 하느니라…</a:t>
            </a:r>
          </a:p>
          <a:p>
            <a:pPr>
              <a:spcAft>
                <a:spcPts val="1000"/>
              </a:spcAft>
            </a:pPr>
            <a:r>
              <a:rPr sz="1600">
                <a:solidFill>
                  <a:srgbClr val="ECE4D2"/>
                </a:solidFill>
              </a:rPr>
              <a:t>•  위 글은 공리주의는 공익을 강조하여 유교적 전헌에 빠져 공익의 기반인 개인을 무시하고 지나치게 공동체적 이익만 강조하여 오히려 공익의 기반인 개인을 무시하고 기본적인 공익마저 무너뜨려 경제이념을 매우 피폐하게 하였음을 보여준다. 특히 공익의 본질인 사회제도 개혁을 기능으로 하는 웅패…</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Ⅳ. 대순사상의 순환적 경제관의 가치</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Ⅳ.4. 도통진경과 환경위기의 극복</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Ⅳ.4. 도통진경과 환경위기의 극복</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도통진경에 기반하는 유행적(流行的) 공리주의 노동관을 환경위기와 관련해서 살펴보면 유행적(流行的) 공동체주의 재화관은 오늘날 서구자본주의를 발전시킨 공동체주의가 뜻하지 않게 초래한 환경위기를 순환의 힘으로 극복시킨다.</a:t>
            </a:r>
          </a:p>
          <a:p>
            <a:pPr>
              <a:spcAft>
                <a:spcPts val="1000"/>
              </a:spcAft>
            </a:pPr>
            <a:r>
              <a:rPr sz="1600">
                <a:solidFill>
                  <a:srgbClr val="ECE4D2"/>
                </a:solidFill>
              </a:rPr>
              <a:t>•  최초 공동체의 실현이라는 경제환경의 문제를 해결하고자 성립했던 서교는 서교 자체의 독단에 눌려 순환론에 치우쳐 있던 중 서양에 전파된 유불선의 적극적 계몽정신과 결합하여 사회주의, 사회복지주의와 같은 공동체주의로 발전, 인류의 경제환경을 크게 진작한다. 그러나 공동체주의가 진작시킨…</a:t>
            </a:r>
          </a:p>
          <a:p>
            <a:pPr>
              <a:spcAft>
                <a:spcPts val="1000"/>
              </a:spcAft>
            </a:pPr>
            <a:r>
              <a:rPr sz="1600">
                <a:solidFill>
                  <a:srgbClr val="ECE4D2"/>
                </a:solidFill>
              </a:rPr>
              <a:t>•  인류의 환경위기에 대하여 대순의 유행적 공동체주의는 오직 경제적으로 다른 공동체보다 유리한 공동체에 속해 있다는 것만을 공동체로 규정한 서양의 공동체주의와 달리 경제의 순환성에 입각하여 인류의 위기에 대한 공동대응이라는 공동체의 원초적인 힘의 부활을 현대 환경위기의 대안으로 제시한다…</a:t>
            </a:r>
          </a:p>
          <a:p>
            <a:pPr>
              <a:spcAft>
                <a:spcPts val="1000"/>
              </a:spcAft>
            </a:pPr>
            <a:r>
              <a:rPr sz="1600">
                <a:solidFill>
                  <a:srgbClr val="ECE4D2"/>
                </a:solidFill>
              </a:rPr>
              <a:t>•  먼저 대순의 유행적 공동체주의가 서구자본주의의 순환성 중시 재화관을 부활시켜 경제 공동체의 환경위기 극복을 진작시키는 것을 살펴보면 대순사상에서 재화는 순환의 결과이므로 순환을 방해하지 않는 한 공동체와 재화에 대한 증여 욕망은 유행성(性)에 의해 매우 강조된다.</a:t>
            </a:r>
          </a:p>
          <a:p>
            <a:pPr>
              <a:spcAft>
                <a:spcPts val="1000"/>
              </a:spcAft>
            </a:pPr>
            <a:r>
              <a:rPr sz="1600">
                <a:solidFill>
                  <a:srgbClr val="ECE4D2"/>
                </a:solidFill>
              </a:rPr>
              <a:t>•  이해 七월에 동학당원들이 원평에 모였도다. 김 형렬이 상제를 뵈옵고자 이곳을 지나다가 동학당이 모여있는 것을 보고 상제를 찾아뵈옵고 그 사실을 아뢰니 상제께서 그 모임의 취지와 행동을 알아 오도록 그를 원평으로 보내시니라. 그는 원평에서 그것이 일진회의 모임이고 보국안민을 목적으로…</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Ⅳ.4. 도통진경과 환경위기의 극복</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위 글은 대순사상은 공동체 이익만큼 공동체의 정의를 우선하여 개인의 재산을 공동의 목적에 사용하는 박애주의적 재화관을 인정한다는 것을 보여준다. 일진회와 동학이 공동을 위한 목적으로 일어났음에도 주민의 약탈로 연명하는 것을 예측하시고 미리 공동체주의적인 사례를 보여 줌으로써 일진회도…</a:t>
            </a:r>
          </a:p>
          <a:p>
            <a:pPr>
              <a:spcAft>
                <a:spcPts val="1000"/>
              </a:spcAft>
            </a:pPr>
            <a:r>
              <a:rPr sz="1600">
                <a:solidFill>
                  <a:srgbClr val="ECE4D2"/>
                </a:solidFill>
              </a:rPr>
              <a:t>•  다음 대순의 유행적 공동체주의가 공동체주의 환경위기 극복의 문제점을 순환성의 위기로 진단하는 것을 살펴보면 대순사상에서 탁월은 경제 순환을 위한 핵심관건이므로 시장제도내적 탁월성을 부정하고 정치적으로 다른 대안으로 핑계삼는 공동체주의적 정치를 매우 비판한다.</a:t>
            </a:r>
          </a:p>
          <a:p>
            <a:pPr>
              <a:spcAft>
                <a:spcPts val="1000"/>
              </a:spcAft>
            </a:pPr>
            <a:r>
              <a:rPr sz="1600">
                <a:solidFill>
                  <a:srgbClr val="ECE4D2"/>
                </a:solidFill>
              </a:rPr>
              <a:t>•  어느 날 종도들이 상제를 뵈옵고 ｢상제의 권능으로 어찌 장 효순의 난을 당하셨나이까｣고 여쭈니라. 상제께서 ｢교중(敎中)이나 가중(家中)에 분쟁이 일어나면 신정(神政)이 문란하여지 나니 그것을 그대로 두면 세상에 큰 재앙이 이르게 되느니라. 그러므로 내가 그 기운을 받 아서 재앙을…</a:t>
            </a:r>
          </a:p>
          <a:p>
            <a:pPr>
              <a:spcAft>
                <a:spcPts val="1000"/>
              </a:spcAft>
            </a:pPr>
            <a:r>
              <a:rPr sz="1600">
                <a:solidFill>
                  <a:srgbClr val="ECE4D2"/>
                </a:solidFill>
              </a:rPr>
              <a:t>•  위 글은 가족과 학교와 같은 1차 공동체는 모든 조직에 우선하며 공동체의 구성원이 공동체의 소중함에 대한 확신이 굳건해야 한다는 점을 보여준다. 공동체주의는 공동체의 탁월을 강조하여 서교의 독단에 빠져 제대로 발전하지 못하던 중 동양의 유불선을 받아 들여 공동체의 환경을 확대 발전시…</a:t>
            </a:r>
          </a:p>
          <a:p>
            <a:pPr>
              <a:spcAft>
                <a:spcPts val="1000"/>
              </a:spcAft>
            </a:pPr>
            <a:r>
              <a:rPr sz="1600">
                <a:solidFill>
                  <a:srgbClr val="ECE4D2"/>
                </a:solidFill>
              </a:rPr>
              <a:t>•  다음 대순의 유행적 공동체주의가 공동체주의적 재화관의 환경위기에 대하여 제시하는 대안을 살펴보면 유행적 공동체주의는 이득에 강한 소수의 횡포와 약한 다수의 대응 중 힘센 소수의 선택을 우선하는 공리주의와 반대로 힘이 약한 다수자에 대한 배려 윤리를 우선 제시하는 도통진경을 보여준다.…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914400" y="2377440"/>
            <a:ext cx="10332720" cy="731520"/>
          </a:xfrm>
          <a:prstGeom prst="rect">
            <a:avLst/>
          </a:prstGeom>
          <a:noFill/>
        </p:spPr>
        <p:txBody>
          <a:bodyPr wrap="square">
            <a:spAutoFit/>
          </a:bodyPr>
          <a:lstStyle/>
          <a:p>
            <a:pPr algn="ctr"/>
            <a:r>
              <a:rPr sz="1600">
                <a:solidFill>
                  <a:srgbClr val="B8AE98"/>
                </a:solidFill>
              </a:rPr>
              <a:t>Ⅴ. 맺는 말</a:t>
            </a:r>
          </a:p>
        </p:txBody>
      </p:sp>
      <p:sp>
        <p:nvSpPr>
          <p:cNvPr id="3" name="TextBox 2"/>
          <p:cNvSpPr txBox="1"/>
          <p:nvPr/>
        </p:nvSpPr>
        <p:spPr>
          <a:xfrm>
            <a:off x="914400" y="3108960"/>
            <a:ext cx="10332720" cy="1463040"/>
          </a:xfrm>
          <a:prstGeom prst="rect">
            <a:avLst/>
          </a:prstGeom>
          <a:noFill/>
        </p:spPr>
        <p:txBody>
          <a:bodyPr wrap="square">
            <a:spAutoFit/>
          </a:bodyPr>
          <a:lstStyle/>
          <a:p>
            <a:pPr algn="ctr"/>
            <a:r>
              <a:rPr sz="3400" b="1">
                <a:solidFill>
                  <a:srgbClr val="C9A04E"/>
                </a:solidFill>
              </a:rPr>
              <a:t>Ⅴ. 맺는 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Ⅴ. 맺는 말</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화폐는 인간 자유의 보고이자 또한 자유의 멍에로 순환 이외에는 풀리지 않는 난해한 존재이다. 그러나 현대는 자본주의시대로 재물을 가장 존중하는 시대라 하지만 상대적으로 경제학은 은폐시키는 시대이다. 신고전파를 벗어난 경제학에는 사회의 작용기제에 대해 알리고 싶지 않은 순환의 비밀이…</a:t>
            </a:r>
          </a:p>
          <a:p>
            <a:pPr>
              <a:spcAft>
                <a:spcPts val="1000"/>
              </a:spcAft>
            </a:pPr>
            <a:r>
              <a:rPr sz="1600">
                <a:solidFill>
                  <a:srgbClr val="ECE4D2"/>
                </a:solidFill>
              </a:rPr>
              <a:t>•  자유에의 획득을 시작으로 출발한 근대는 오늘날 자유의 의미가 퇴색하고 경제동기가 실종되어 경제윤리 실종, 경제이념 붕괴 나아가 피부에까지 느껴지는 심각한 환경위기에까지 이르고 있지만 뾰족한 대책이 없는 실정이다. 환경문제는 경제문제가 모두 중층적으로 집약되는 지점이기 때문이다. 자본…</a:t>
            </a:r>
          </a:p>
          <a:p>
            <a:pPr>
              <a:spcAft>
                <a:spcPts val="1000"/>
              </a:spcAft>
            </a:pPr>
            <a:r>
              <a:rPr sz="1600">
                <a:solidFill>
                  <a:srgbClr val="ECE4D2"/>
                </a:solidFill>
              </a:rPr>
              <a:t>•  인간의 궁극적 경제 동기는 자유에 있다. 그러나 자유는 순환이 전제되어야 가능하다. 자유는 건전한 사회계약에 기반하고 사회계약은 공동체의 공리에 공동체의 공리는 공동체의 존재자체에 기반한다. 따라서 자유를 위해서는 공도에를 추구해야 한다. 오늘날 사회와 공동체에 배타적인 자유지상주의…</a:t>
            </a:r>
          </a:p>
          <a:p>
            <a:pPr>
              <a:spcAft>
                <a:spcPts val="1000"/>
              </a:spcAft>
            </a:pPr>
            <a:r>
              <a:rPr sz="1600">
                <a:solidFill>
                  <a:srgbClr val="ECE4D2"/>
                </a:solidFill>
              </a:rPr>
              <a:t>•  대순사상에서는 유불선을 순환시켜 오늘날의 경제 문제를 해결하고자 한다. 대순사상에서는 공산주의와 같이 공동체의 형성으로 만족하거나 자본주의와 같이 자유를 위한 자유에 만족하지 않고 순환지리에 따라 공동체를 형성한 다음 다시 자유에의 길을 갈 것을 요청한다. 러셀역설처럼 만물은 순환하…</a:t>
            </a:r>
          </a:p>
          <a:p>
            <a:pPr>
              <a:spcAft>
                <a:spcPts val="1000"/>
              </a:spcAft>
            </a:pPr>
            <a:r>
              <a:rPr sz="1600">
                <a:solidFill>
                  <a:srgbClr val="ECE4D2"/>
                </a:solidFill>
              </a:rPr>
              <a:t>•  경제와 윤리를 통합하는 대순 사상은 가장 뛰어난 환경문제 해법을 제시하는 순환적 경제관을 제시한다. 대순 사상은 우선 도박자본주의에 빠져 오늘날 자유를 위해 일하고 싶은 생각이 없는 현대인을 음양합덕이라는 도교적 진리로 도박자본주의에서 벗어나게 해준다. 도박자본주의를 벗어난 사람은…</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41022"/>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r>
              <a:rPr sz="2400" b="1">
                <a:solidFill>
                  <a:srgbClr val="C9A04E"/>
                </a:solidFill>
              </a:rPr>
              <a:t>Ⅴ. 맺는 말</a:t>
            </a:r>
          </a:p>
        </p:txBody>
      </p:sp>
      <p:sp>
        <p:nvSpPr>
          <p:cNvPr id="3" name="TextBox 2"/>
          <p:cNvSpPr txBox="1"/>
          <p:nvPr/>
        </p:nvSpPr>
        <p:spPr>
          <a:xfrm>
            <a:off x="822960" y="1554480"/>
            <a:ext cx="10515600" cy="4754880"/>
          </a:xfrm>
          <a:prstGeom prst="rect">
            <a:avLst/>
          </a:prstGeom>
          <a:noFill/>
        </p:spPr>
        <p:txBody>
          <a:bodyPr wrap="square">
            <a:spAutoFit/>
          </a:bodyPr>
          <a:lstStyle/>
          <a:p>
            <a:pPr>
              <a:spcAft>
                <a:spcPts val="1000"/>
              </a:spcAft>
            </a:pPr>
            <a:r>
              <a:rPr sz="1600">
                <a:solidFill>
                  <a:srgbClr val="ECE4D2"/>
                </a:solidFill>
              </a:rPr>
              <a:t>•  실제로 대순사상이 기반하고 있는 한국은 최근 세계적인 경제위기 가운데서도 불가능할 것이라던 일본 경제를 추월하고 누구도 예상치 못한 한류문화가 세계적 붐을 일으키며 세계를 놀라게 했다. 한국은 18세기까지도 중국에 이은 실제적인 세계 2위권의 경제력을 유지했다고 한다. 세계는 과연…</a:t>
            </a:r>
          </a:p>
          <a:p>
            <a:pPr>
              <a:spcAft>
                <a:spcPts val="1000"/>
              </a:spcAft>
            </a:pPr>
            <a:r>
              <a:rPr sz="1600">
                <a:solidFill>
                  <a:srgbClr val="ECE4D2"/>
                </a:solidFill>
              </a:rPr>
              <a:t>•  대순의 순환론적인 사상처럼 한국의 사상은 유불선 삼합의 순환론을 가장 큰 특징으로 한다. 한국 사상에서 유독 순환적인 경향이 나타나는 것은 최근 동북공정을 통해 나타난 한국의 고유한 기마문화에서 한 답을 찾을 수 있다. 최근 중국의 동북공정과 함께 부각된 한국의 기마문화는 한국사상이…</a:t>
            </a:r>
          </a:p>
          <a:p>
            <a:pPr>
              <a:spcAft>
                <a:spcPts val="1000"/>
              </a:spcAft>
            </a:pPr>
            <a:r>
              <a:rPr sz="1600">
                <a:solidFill>
                  <a:srgbClr val="ECE4D2"/>
                </a:solidFill>
              </a:rPr>
              <a:t>•  실제 계속 순환하고 있는 우주는 달리는 말에서 움직이는 표적을 맞추는 것과 같아 서양과 같은 정태적인 환원주의는 적용되지 않고 상대성이론과 같이 순환적인 이론이 필요하다. 한국은 비단 대순 사상 뿐 아니라 오행의 나라라고 불리울 만큼 순환과학인 오행과 삼재로 가득 찬 나라이다. 순환…</a:t>
            </a:r>
          </a:p>
          <a:p>
            <a:pPr>
              <a:spcAft>
                <a:spcPts val="1000"/>
              </a:spcAft>
            </a:pPr>
            <a:r>
              <a:rPr sz="1600">
                <a:solidFill>
                  <a:srgbClr val="ECE4D2"/>
                </a:solidFill>
              </a:rPr>
              <a:t>•  순환이론은 또한 공동체가 있어야 비로소 가능하다. 순환을 강조한 한국은 가장 가족을 소중히 여기고 세계에 유일하게 남은 유교문화권인 나라가 되었다. 최근 한국의 자살율이 높아진 것은 달리는 말에서 빨리 결론을 내리는 기질이 순환의 상실로 가속화된 가족이라는 공동체의 해체에서 비롯된다…</a:t>
            </a:r>
          </a:p>
          <a:p>
            <a:pPr>
              <a:spcAft>
                <a:spcPts val="1000"/>
              </a:spcAft>
            </a:pPr>
            <a:r>
              <a:rPr sz="1600">
                <a:solidFill>
                  <a:srgbClr val="ECE4D2"/>
                </a:solidFill>
              </a:rPr>
              <a:t>•  가족을 중시하는 대순의 순환적 인존사상에서는 특히 한국 가정 경제의 근원인 시루와 솥을 주목한다. 한국은 원효의 화쟁사상으로부터 만물을 순환적으로 통합하는 시루와 솥의 전통을 가지고 있다. 대순의 인존사상에서 인간은 순환의 중심이 되어 만물을 시루와 같이 숙성한다. 시루와 같이 만물…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