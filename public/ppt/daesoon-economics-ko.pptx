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81360" y="502920"/>
            <a:ext cx="77724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8580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8A8FA5"/>
                </a:solidFill>
                <a:latin typeface="맑은 고딕"/>
                <a:ea typeface="맑은 고딕"/>
              </a:rPr>
              <a:t>碩士學位論文  |  Master's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1F2A5A"/>
                </a:solidFill>
                <a:latin typeface="맑은 고딕"/>
                <a:ea typeface="맑은 고딕"/>
              </a:rPr>
              <a:t>대순사상의 순환적 경제관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0632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B08D3C"/>
                </a:solidFill>
                <a:latin typeface="맑은 고딕"/>
                <a:ea typeface="맑은 고딕"/>
              </a:rPr>
              <a:t>— 돈은 순환지리(循環之理)로 생겨 쓰는 물건이다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353845"/>
                </a:solidFill>
                <a:latin typeface="맑은 고딕"/>
                <a:ea typeface="맑은 고딕"/>
              </a:rPr>
              <a:t>A Study on the View of Cyclic Economics in Daesoon Thought</a:t>
            </a:r>
          </a:p>
          <a:p>
            <a:r>
              <a:rPr sz="1100" b="0" i="0">
                <a:solidFill>
                  <a:srgbClr val="8A8FA5"/>
                </a:solidFill>
                <a:latin typeface="맑은 고딕"/>
                <a:ea typeface="맑은 고딕"/>
              </a:rPr>
              <a:t>Circulating the Four Economic Ethics of Confucianism, Buddhism, Daoism and Christianity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353845"/>
                </a:solidFill>
                <a:latin typeface="맑은 고딕"/>
                <a:ea typeface="맑은 고딕"/>
              </a:rPr>
              <a:t>指導敎授  高 南 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53845"/>
                </a:solidFill>
                <a:latin typeface="맑은 고딕"/>
                <a:ea typeface="맑은 고딕"/>
              </a:rPr>
              <a:t>大眞大學校 大學院  大巡宗學科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F2A5A"/>
                </a:solidFill>
                <a:latin typeface="맑은 고딕"/>
                <a:ea typeface="맑은 고딕"/>
              </a:rPr>
              <a:t>崔 原 爀    |    2011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2A5A"/>
                </a:solidFill>
                <a:latin typeface="맑은 고딕"/>
                <a:ea typeface="맑은 고딕"/>
              </a:rPr>
              <a:t>目 次  |  </a:t>
            </a:r>
            <a:r>
              <a:rPr sz="2600" b="1" i="0">
                <a:solidFill>
                  <a:srgbClr val="1F2A5A"/>
                </a:solidFill>
                <a:latin typeface="맑은 고딕"/>
                <a:ea typeface="맑은 고딕"/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B08D3C"/>
                </a:solidFill>
                <a:latin typeface="맑은 고딕"/>
                <a:ea typeface="맑은 고딕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801368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1F2A5A"/>
                </a:solidFill>
                <a:latin typeface="맑은 고딕"/>
                <a:ea typeface="맑은 고딕"/>
              </a:rPr>
              <a:t>들어가는 말</a:t>
            </a:r>
          </a:p>
          <a:p>
            <a:r>
              <a:rPr sz="1100" b="0" i="0">
                <a:solidFill>
                  <a:srgbClr val="8A8FA5"/>
                </a:solidFill>
                <a:latin typeface="맑은 고딕"/>
                <a:ea typeface="맑은 고딕"/>
              </a:rP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1576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B08D3C"/>
                </a:solidFill>
                <a:latin typeface="맑은 고딕"/>
                <a:ea typeface="맑은 고딕"/>
              </a:rPr>
              <a:t>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34056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1F2A5A"/>
                </a:solidFill>
                <a:latin typeface="맑은 고딕"/>
                <a:ea typeface="맑은 고딕"/>
              </a:rPr>
              <a:t>제 종교의 경제관과 제한적 순환성</a:t>
            </a:r>
          </a:p>
          <a:p>
            <a:r>
              <a:rPr sz="1100" b="0" i="0">
                <a:solidFill>
                  <a:srgbClr val="8A8FA5"/>
                </a:solidFill>
                <a:latin typeface="맑은 고딕"/>
                <a:ea typeface="맑은 고딕"/>
              </a:rPr>
              <a:t>Economic Views of Religions &amp; Limited Cyclicality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48456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B08D3C"/>
                </a:solidFill>
                <a:latin typeface="맑은 고딕"/>
                <a:ea typeface="맑은 고딕"/>
              </a:rPr>
              <a:t>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666744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1F2A5A"/>
                </a:solidFill>
                <a:latin typeface="맑은 고딕"/>
                <a:ea typeface="맑은 고딕"/>
              </a:rPr>
              <a:t>종지에 나타난 순환적 경제관</a:t>
            </a:r>
          </a:p>
          <a:p>
            <a:r>
              <a:rPr sz="1100" b="0" i="0">
                <a:solidFill>
                  <a:srgbClr val="8A8FA5"/>
                </a:solidFill>
                <a:latin typeface="맑은 고딕"/>
                <a:ea typeface="맑은 고딕"/>
              </a:rPr>
              <a:t>Cyclic Economics in the Tenets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811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B08D3C"/>
                </a:solidFill>
                <a:latin typeface="맑은 고딕"/>
                <a:ea typeface="맑은 고딕"/>
              </a:rPr>
              <a:t>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99431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1F2A5A"/>
                </a:solidFill>
                <a:latin typeface="맑은 고딕"/>
                <a:ea typeface="맑은 고딕"/>
              </a:rPr>
              <a:t>대순사상의 순환적 경제관의 가치</a:t>
            </a:r>
          </a:p>
          <a:p>
            <a:r>
              <a:rPr sz="1100" b="0" i="0">
                <a:solidFill>
                  <a:srgbClr val="8A8FA5"/>
                </a:solidFill>
                <a:latin typeface="맑은 고딕"/>
                <a:ea typeface="맑은 고딕"/>
              </a:rPr>
              <a:t>The Value of the Cyclic Economics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513831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B08D3C"/>
                </a:solidFill>
                <a:latin typeface="맑은 고딕"/>
                <a:ea typeface="맑은 고딕"/>
              </a:rPr>
              <a:t>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532119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1F2A5A"/>
                </a:solidFill>
                <a:latin typeface="맑은 고딕"/>
                <a:ea typeface="맑은 고딕"/>
              </a:rPr>
              <a:t>맺는 말</a:t>
            </a:r>
          </a:p>
          <a:p>
            <a:r>
              <a:rPr sz="1100" b="0" i="0">
                <a:solidFill>
                  <a:srgbClr val="8A8FA5"/>
                </a:solidFill>
                <a:latin typeface="맑은 고딕"/>
                <a:ea typeface="맑은 고딕"/>
              </a:rPr>
              <a:t>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6473952"/>
            <a:ext cx="10607040" cy="1905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대순사상의 순환적 경제관 연구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핵심 프레임워크 — 순환의 4중 대응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813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353845"/>
                </a:solidFill>
                <a:latin typeface="맑은 고딕"/>
                <a:ea typeface="맑은 고딕"/>
              </a:rPr>
              <a:t>유·불·선·서교의 4대 경제윤리가 순환하며, 대순 종지가 4대 경제문제를 해결한다.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14884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657600"/>
                <a:gridCol w="1554480"/>
                <a:gridCol w="1920240"/>
                <a:gridCol w="2011680"/>
              </a:tblGrid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종교</a:t>
                      </a:r>
                    </a:p>
                  </a:txBody>
                  <a:tcPr anchor="ctr">
                    <a:solidFill>
                      <a:srgbClr val="1F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경제윤리 · 경제관</a:t>
                      </a:r>
                    </a:p>
                  </a:txBody>
                  <a:tcPr anchor="ctr">
                    <a:solidFill>
                      <a:srgbClr val="1F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순환 속성</a:t>
                      </a:r>
                    </a:p>
                  </a:txBody>
                  <a:tcPr anchor="ctr">
                    <a:solidFill>
                      <a:srgbClr val="1F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대순 종지</a:t>
                      </a:r>
                    </a:p>
                  </a:txBody>
                  <a:tcPr anchor="ctr">
                    <a:solidFill>
                      <a:srgbClr val="1F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해결 경제문제</a:t>
                      </a:r>
                    </a:p>
                  </a:txBody>
                  <a:tcPr anchor="ctr">
                    <a:solidFill>
                      <a:srgbClr val="1F2A5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1F2A5A"/>
                          </a:solidFill>
                          <a:latin typeface="맑은 고딕"/>
                          <a:ea typeface="맑은 고딕"/>
                        </a:rPr>
                        <a:t>도교(道敎)</a:t>
                      </a:r>
                    </a:p>
                  </a:txBody>
                  <a:tcPr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353845"/>
                          </a:solidFill>
                          <a:latin typeface="맑은 고딕"/>
                          <a:ea typeface="맑은 고딕"/>
                        </a:rPr>
                        <a:t>자유지상주의 · 재부관(財富)</a:t>
                      </a:r>
                    </a:p>
                  </a:txBody>
                  <a:tcPr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353845"/>
                          </a:solidFill>
                          <a:latin typeface="맑은 고딕"/>
                          <a:ea typeface="맑은 고딕"/>
                        </a:rPr>
                        <a:t>대대(待對)</a:t>
                      </a:r>
                    </a:p>
                  </a:txBody>
                  <a:tcPr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B08D3C"/>
                          </a:solidFill>
                          <a:latin typeface="맑은 고딕"/>
                          <a:ea typeface="맑은 고딕"/>
                        </a:rPr>
                        <a:t>음양합덕</a:t>
                      </a:r>
                    </a:p>
                  </a:txBody>
                  <a:tcPr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353845"/>
                          </a:solidFill>
                          <a:latin typeface="맑은 고딕"/>
                          <a:ea typeface="맑은 고딕"/>
                        </a:rPr>
                        <a:t>경제동기 회복</a:t>
                      </a:r>
                    </a:p>
                  </a:txBody>
                  <a:tcPr anchor="ctr">
                    <a:solidFill>
                      <a:srgbClr val="F2F4F9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1F2A5A"/>
                          </a:solidFill>
                          <a:latin typeface="맑은 고딕"/>
                          <a:ea typeface="맑은 고딕"/>
                        </a:rPr>
                        <a:t>불교(佛敎)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353845"/>
                          </a:solidFill>
                          <a:latin typeface="맑은 고딕"/>
                          <a:ea typeface="맑은 고딕"/>
                        </a:rPr>
                        <a:t>사회계약주의 · 분배관(分配)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353845"/>
                          </a:solidFill>
                          <a:latin typeface="맑은 고딕"/>
                          <a:ea typeface="맑은 고딕"/>
                        </a:rPr>
                        <a:t>회귀(回歸)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B08D3C"/>
                          </a:solidFill>
                          <a:latin typeface="맑은 고딕"/>
                          <a:ea typeface="맑은 고딕"/>
                        </a:rPr>
                        <a:t>신인조화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353845"/>
                          </a:solidFill>
                          <a:latin typeface="맑은 고딕"/>
                          <a:ea typeface="맑은 고딕"/>
                        </a:rPr>
                        <a:t>경제윤리 재생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1F2A5A"/>
                          </a:solidFill>
                          <a:latin typeface="맑은 고딕"/>
                          <a:ea typeface="맑은 고딕"/>
                        </a:rPr>
                        <a:t>유교(儒敎)</a:t>
                      </a:r>
                    </a:p>
                  </a:txBody>
                  <a:tcPr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353845"/>
                          </a:solidFill>
                          <a:latin typeface="맑은 고딕"/>
                          <a:ea typeface="맑은 고딕"/>
                        </a:rPr>
                        <a:t>공리주의 · 노동관(勞動)</a:t>
                      </a:r>
                    </a:p>
                  </a:txBody>
                  <a:tcPr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353845"/>
                          </a:solidFill>
                          <a:latin typeface="맑은 고딕"/>
                          <a:ea typeface="맑은 고딕"/>
                        </a:rPr>
                        <a:t>중화(中和)</a:t>
                      </a:r>
                    </a:p>
                  </a:txBody>
                  <a:tcPr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B08D3C"/>
                          </a:solidFill>
                          <a:latin typeface="맑은 고딕"/>
                          <a:ea typeface="맑은 고딕"/>
                        </a:rPr>
                        <a:t>해원상생</a:t>
                      </a:r>
                    </a:p>
                  </a:txBody>
                  <a:tcPr anchor="ctr">
                    <a:solidFill>
                      <a:srgbClr val="F2F4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353845"/>
                          </a:solidFill>
                          <a:latin typeface="맑은 고딕"/>
                          <a:ea typeface="맑은 고딕"/>
                        </a:rPr>
                        <a:t>경제이념 조화</a:t>
                      </a:r>
                    </a:p>
                  </a:txBody>
                  <a:tcPr anchor="ctr">
                    <a:solidFill>
                      <a:srgbClr val="F2F4F9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1F2A5A"/>
                          </a:solidFill>
                          <a:latin typeface="맑은 고딕"/>
                          <a:ea typeface="맑은 고딕"/>
                        </a:rPr>
                        <a:t>서교(西敎)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353845"/>
                          </a:solidFill>
                          <a:latin typeface="맑은 고딕"/>
                          <a:ea typeface="맑은 고딕"/>
                        </a:rPr>
                        <a:t>공동체주의 · 재화관(財貨)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353845"/>
                          </a:solidFill>
                          <a:latin typeface="맑은 고딕"/>
                          <a:ea typeface="맑은 고딕"/>
                        </a:rPr>
                        <a:t>유행(流行)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B08D3C"/>
                          </a:solidFill>
                          <a:latin typeface="맑은 고딕"/>
                          <a:ea typeface="맑은 고딕"/>
                        </a:rPr>
                        <a:t>도통진경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353845"/>
                          </a:solidFill>
                          <a:latin typeface="맑은 고딕"/>
                          <a:ea typeface="맑은 고딕"/>
                        </a:rPr>
                        <a:t>환경위기 극복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1722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8A8FA5"/>
                </a:solidFill>
                <a:latin typeface="맑은 고딕"/>
                <a:ea typeface="맑은 고딕"/>
              </a:rPr>
              <a:t>→ 순환의 5속성: 대대 · 유행 · 중화 · 회귀 · 나선(螺線)  |  종교→윤리→경제의 선순환 회복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핵심 프레임워크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국문초록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566928"/>
          </a:xfrm>
          <a:prstGeom prst="roundRect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72768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B08D3C"/>
                </a:solidFill>
                <a:latin typeface="맑은 고딕"/>
                <a:ea typeface="맑은 고딕"/>
              </a:rPr>
              <a:t>핵심 요지   </a:t>
            </a:r>
            <a:r>
              <a:rPr sz="1300" b="1" i="0">
                <a:solidFill>
                  <a:srgbClr val="1F2A5A"/>
                </a:solidFill>
                <a:latin typeface="맑은 고딕"/>
                <a:ea typeface="맑은 고딕"/>
              </a:rPr>
              <a:t>"돈은 순환지리로 생겨 쓰는 물건" — 유·불·선·서교의 경제사상을 순환시켜 세계 경제문제를 해결하는 대순사상의 순환적 경제관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50008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459736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문제의식 — 순환의 마비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근대 이후 경제사상이 종교(유불선·서교)에서 기원했음을 망각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종교 간 충돌로 상호 순환이 끊기며 경제동기·윤리·이념·환경의 4대 위기 초래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30168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739896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58183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핵심 주장 — 순환적 경제관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경제윤리의 기반인 유불선·서교가 상호 순환한다는 주장은 대순사상이 최초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음양합덕·신인조화·해원상생·도통진경의 종지로 4대 경제윤리를 상생·조화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1032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5020056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03834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방법 — 포스트모던 순환론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직선적 근대성을 넘어, 피가 몸을 돌 듯 경제 전체를 살리는 순환의 원리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Ⅰ. 들어가는 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331720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14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C9A04E"/>
                </a:solidFill>
                <a:latin typeface="맑은 고딕"/>
                <a:ea typeface="맑은 고딕"/>
              </a:rPr>
              <a:t>Ⅰ.  </a:t>
            </a: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들어가는 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B8C0D8"/>
                </a:solidFill>
                <a:latin typeface="맑은 고딕"/>
                <a:ea typeface="맑은 고딕"/>
              </a:rPr>
              <a:t>Introduction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394960"/>
            <a:ext cx="2194560" cy="2194560"/>
          </a:xfrm>
          <a:prstGeom prst="ellipse">
            <a:avLst/>
          </a:prstGeom>
          <a:solidFill>
            <a:srgbClr val="2C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B8C0D8"/>
                </a:solidFill>
                <a:latin typeface="맑은 고딕"/>
                <a:ea typeface="맑은 고딕"/>
              </a:rPr>
              <a:t>Ⅰ. 들어가는 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0D8"/>
                </a:solidFill>
                <a:latin typeface="맑은 고딕"/>
                <a:ea typeface="맑은 고딕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Ⅰ. 들어가는 말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566928"/>
          </a:xfrm>
          <a:prstGeom prst="roundRect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72768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B08D3C"/>
                </a:solidFill>
                <a:latin typeface="맑은 고딕"/>
                <a:ea typeface="맑은 고딕"/>
              </a:rPr>
              <a:t>핵심 요지   </a:t>
            </a:r>
            <a:r>
              <a:rPr sz="1300" b="1" i="0">
                <a:solidFill>
                  <a:srgbClr val="1F2A5A"/>
                </a:solidFill>
                <a:latin typeface="맑은 고딕"/>
                <a:ea typeface="맑은 고딕"/>
              </a:rPr>
              <a:t>종교와 경제의 선순환이라는 관점에서 대순사상의 순환적 경제관의 연구 필요성과 범위를 밝힌다.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50008"/>
            <a:ext cx="10698480" cy="1389888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459736"/>
            <a:ext cx="50800" cy="1170432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014984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장의 구성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1. 연구의 필요성 — 순환 마비가 부른 4대 경제위기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2. 선행 연구 검토 — 서양경제의 동양 기원과 순환 경제사상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3. 연구의 범위와 방법 — 4대 경제윤리와 대순 종지의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Ⅰ. 들어가는 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Ⅰ.1  연구의 필요성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종교와 경제의 선순환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종교→윤리→경제로 이어지는 선순환, 베버 '경제사상=종교사상'이 재조명됨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한중일의 독보적 성장으로 유불선의 순환적 경제사상이 다시 부각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52928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962656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80944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순환 마비가 부른 4대 위기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개인-경제: 경제동기 붕괴  /  개인-윤리: 경제윤리 실종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공동체-경제: 자본-공산 체제 분쟁  /  공동체-윤리: 환경위기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3308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242816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순환의 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미시 — 경제발전의 동기 부여,  거시 — 경제위기의 치료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Ⅰ. 들어가는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Ⅰ.2  선행 연구 검토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① 서양경제의 동양 종교적 연원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서양문명 중국기원설(주겸지·프랑크·홉슨·황태연·전홍석)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"마테오리치가 동양 문명신을 거느리고 서양에서 문운을 열었다"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5292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962656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8094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② 대순의 순환적 경제사상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"돈은 순환지리로 생겨 쓰는 물건"에 담긴 순환론적 분배윤리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22191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931920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50207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③ 화폐·종교의 상관관계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화폐의 순환성과 종교 사상의 상호 순환에 대한 연구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Ⅰ. 들어가는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Ⅰ.3  연구의 범위와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연구의 범위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유·불·선·서교의 4대 경제윤리(재부·분배·노동·재화관)와 대순 종지의 비교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연구의 방법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상관적(相關的) 사유와 순환론으로 종교–윤리–경제의 삼중 순환을 분석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역(易)의 원형이정 순환을 이론적 틀로 활용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Ⅰ. 들어가는 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331720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14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C9A04E"/>
                </a:solidFill>
                <a:latin typeface="맑은 고딕"/>
                <a:ea typeface="맑은 고딕"/>
              </a:rPr>
              <a:t>Ⅱ.  </a:t>
            </a: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제 종교의 경제관과 제한적 순환성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B8C0D8"/>
                </a:solidFill>
                <a:latin typeface="맑은 고딕"/>
                <a:ea typeface="맑은 고딕"/>
              </a:rPr>
              <a:t>Economic Views of Religions and Limited Cyclicality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394960"/>
            <a:ext cx="2194560" cy="2194560"/>
          </a:xfrm>
          <a:prstGeom prst="ellipse">
            <a:avLst/>
          </a:prstGeom>
          <a:solidFill>
            <a:srgbClr val="2C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B8C0D8"/>
                </a:solidFill>
                <a:latin typeface="맑은 고딕"/>
                <a:ea typeface="맑은 고딕"/>
              </a:rPr>
              <a:t>Ⅱ. 제 종교의 경제관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0D8"/>
                </a:solidFill>
                <a:latin typeface="맑은 고딕"/>
                <a:ea typeface="맑은 고딕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Ⅱ. 제 종교의 경제관과 제한적 순환성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566928"/>
          </a:xfrm>
          <a:prstGeom prst="roundRect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72768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B08D3C"/>
                </a:solidFill>
                <a:latin typeface="맑은 고딕"/>
                <a:ea typeface="맑은 고딕"/>
              </a:rPr>
              <a:t>핵심 요지   </a:t>
            </a:r>
            <a:r>
              <a:rPr sz="1300" b="1" i="0">
                <a:solidFill>
                  <a:srgbClr val="1F2A5A"/>
                </a:solidFill>
                <a:latin typeface="맑은 고딕"/>
                <a:ea typeface="맑은 고딕"/>
              </a:rPr>
              <a:t>각 종교의 경제윤리는 하나의 경제관으로 나타나지만, 종교 간 충돌로 순환은 제한적이다.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50008"/>
            <a:ext cx="10698480" cy="1389888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459736"/>
            <a:ext cx="50800" cy="1170432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014984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장의 구성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1. 경제윤리와 제 종교의 순환성 — 윤리학 4체계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2~5. 도교·불교·유교·서교의 자본주의와 4대 경제윤리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핵심: 각 경제윤리는 순환성을 잃으면 각각의 경제위기를 부른다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Ⅱ. 제 종교의 경제관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Ⅱ.1  경제윤리와 제 종교의 순환성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경제와 윤리의 관계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야누스처럼 상반되면서도 공존 — 종교의 핵심윤리가 경제사상으로 표출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윤리학의 4체계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덕(德)-아리스토텔레스, 정(正)-칸트, 선/효율-자유지상, 공리(功利)-공리주의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11296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621024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종교 ↔ 경제윤리 대응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도교–자유지상주의  /  불교–사회계약주의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유교–공리주의  /  서교–공동체주의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Ⅱ. 제 종교의 경제관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Ⅱ.2  중국식 도교자본주의와 자유지상주의적 재부관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도교와 자본주의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자본주의와 가장 가까운 사상 — 마테오리치를 거쳐 유럽에 소개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아담 스미스의 '보이지 않는 손', 신고전학파 한계효용론에 영향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5292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962656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8094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재부관(財富) — 저축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칼빈의 고리대금 인정으로 저축의 기반 마련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22191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931920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50207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한계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자유지상주의가 순환성을 잃어 경제동기의 위기를 초래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Ⅱ. 제 종교의 경제관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Ⅱ.3  불교 보살자본주의와 사회계약주의적 분배관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불교의 경제사상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경제 관련 언급이 풍부 — 인도의 부상·생태론으로 재조명(보살자본주의)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분배관(分配)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칸트 의무론과 불교의 유사성 — 사회계약주의적 분배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11296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621024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한계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순환성을 잃어 경제윤리(정의)의 위기를 초래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Ⅱ. 제 종교의 경제관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Ⅱ.4  유교자본주의와 공리주의적 노동관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유교자본주의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한중일·아시아 4용의 성장 동력 — 뚜웨이밍·모리시마·함재봉의 연구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노동관(勞動)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생산과 근면 — 공리주의(케인즈-슘페터)와 대응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11296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621024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한계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유교의 전헌에 눌려 순환을 잃어 경제이념의 분쟁을 초래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Ⅱ. 제 종교의 경제관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Ⅱ.5  서교 서구자본주의와 공동체주의적 재화관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서교와 자본주의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베버의 프로테스탄티즘 — 그러나 서교의 박애는 그 재부관과 정반대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재화관(財貨) — 유통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박애정신 = 공동체주의적 유통, 저축·생산·유통·분배 중 '유통'을 담당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11296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621024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한계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순환성의 부족으로 환경위기를 초래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Ⅱ. 제 종교의 경제관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331720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14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C9A04E"/>
                </a:solidFill>
                <a:latin typeface="맑은 고딕"/>
                <a:ea typeface="맑은 고딕"/>
              </a:rPr>
              <a:t>Ⅲ.  </a:t>
            </a: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종지에 나타난 순환적 경제관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B8C0D8"/>
                </a:solidFill>
                <a:latin typeface="맑은 고딕"/>
                <a:ea typeface="맑은 고딕"/>
              </a:rPr>
              <a:t>Cyclic Economics in the Tenets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394960"/>
            <a:ext cx="2194560" cy="2194560"/>
          </a:xfrm>
          <a:prstGeom prst="ellipse">
            <a:avLst/>
          </a:prstGeom>
          <a:solidFill>
            <a:srgbClr val="2C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B8C0D8"/>
                </a:solidFill>
                <a:latin typeface="맑은 고딕"/>
                <a:ea typeface="맑은 고딕"/>
              </a:rPr>
              <a:t>Ⅲ. 종지의 순환적 경제관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0D8"/>
                </a:solidFill>
                <a:latin typeface="맑은 고딕"/>
                <a:ea typeface="맑은 고딕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Ⅲ. 종지에 나타난 순환적 경제관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566928"/>
          </a:xfrm>
          <a:prstGeom prst="roundRect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72768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B08D3C"/>
                </a:solidFill>
                <a:latin typeface="맑은 고딕"/>
                <a:ea typeface="맑은 고딕"/>
              </a:rPr>
              <a:t>핵심 요지   </a:t>
            </a:r>
            <a:r>
              <a:rPr sz="1300" b="1" i="0">
                <a:solidFill>
                  <a:srgbClr val="1F2A5A"/>
                </a:solidFill>
                <a:latin typeface="맑은 고딕"/>
                <a:ea typeface="맑은 고딕"/>
              </a:rPr>
              <a:t>역(易)의 원형적 순환 위에서 음양합덕·신인조화·해원상생·도통진경이 4대 경제윤리를 상생시킨다.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50008"/>
            <a:ext cx="10698480" cy="1389888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459736"/>
            <a:ext cx="50800" cy="1170432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014984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장의 구성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1. 역(易)과 대순사상의 원형적 순환성 — 순환의 5속성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2~5. 대대·회귀·중화·유행의 순환으로 4대 경제윤리를 상생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음양합덕 · 신인조화 · 해원상생 · 도통진경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Ⅲ. 종지의 순환적 경제관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Ⅲ.1  역(易)과 대순사상의 원형적 순환성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원(圓)과 순환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대순사상의 숨겨진 핵심 원리이자 동·서 이론을 가르는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순환의 과학성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러셀역설·불완전성 정리로 역(易)의 원형이정 순환론의 과학성이 드러남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11296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621024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순환의 5속성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대대(待對) · 유행(流行) · 중화(中和) · 회귀(回歸) · 나선(螺線)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Ⅲ. 종지의 순환적 경제관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Ⅲ.2  대대적 자유지상주의 재부관과 음양합덕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대대(待對)의 순환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음양이 서로 마주보며 짝을 이루어 도는 순환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음양합덕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자유지상주의 재부관을 순환시켜 억눌린 경제적 자유를 회복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Ⅲ. 종지의 순환적 경제관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Ⅲ.3  회귀적 사회계약주의 분배관과 신인조화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회귀(回歸)의 순환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정의가 제도의 기초구조라는 근본으로 되돌아가는 순환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신인조화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사회계약주의 분배관을 순환시켜 사회정의를 회복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Ⅲ. 종지의 순환적 경제관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Ⅲ.4  중화적 공리주의 노동관과 해원상생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중화(中和)의 순환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대립하는 둘을 조화시켜 공(公)에 이르는 순환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해원상생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공리주의 노동관을 순환시켜 참된 공리(公利)를 회복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Ⅲ. 종지의 순환적 경제관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Ⅲ.5  유행적 공동체주의 재화관과 도통진경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유행(流行)의 순환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끊임없이 흘러 두루 미치는 순환 — 재화는 순환의 결과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도통진경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공동체주의 재화관을 순환시켜 공동체의 원초적 힘을 부활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Ⅲ. 종지의 순환적 경제관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331720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14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C9A04E"/>
                </a:solidFill>
                <a:latin typeface="맑은 고딕"/>
                <a:ea typeface="맑은 고딕"/>
              </a:rPr>
              <a:t>Ⅳ.  </a:t>
            </a: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대순사상의 순환적 경제관의 가치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B8C0D8"/>
                </a:solidFill>
                <a:latin typeface="맑은 고딕"/>
                <a:ea typeface="맑은 고딕"/>
              </a:rPr>
              <a:t>The Value of the Cyclic Economics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394960"/>
            <a:ext cx="2194560" cy="2194560"/>
          </a:xfrm>
          <a:prstGeom prst="ellipse">
            <a:avLst/>
          </a:prstGeom>
          <a:solidFill>
            <a:srgbClr val="2C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B8C0D8"/>
                </a:solidFill>
                <a:latin typeface="맑은 고딕"/>
                <a:ea typeface="맑은 고딕"/>
              </a:rPr>
              <a:t>Ⅳ. 순환적 경제관의 가치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0D8"/>
                </a:solidFill>
                <a:latin typeface="맑은 고딕"/>
                <a:ea typeface="맑은 고딕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Ⅳ. 대순사상의 순환적 경제관의 가치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566928"/>
          </a:xfrm>
          <a:prstGeom prst="roundRect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72768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B08D3C"/>
                </a:solidFill>
                <a:latin typeface="맑은 고딕"/>
                <a:ea typeface="맑은 고딕"/>
              </a:rPr>
              <a:t>핵심 요지   </a:t>
            </a:r>
            <a:r>
              <a:rPr sz="1300" b="1" i="0">
                <a:solidFill>
                  <a:srgbClr val="1F2A5A"/>
                </a:solidFill>
                <a:latin typeface="맑은 고딕"/>
                <a:ea typeface="맑은 고딕"/>
              </a:rPr>
              <a:t>음양합덕·신인조화·해원상생·도통진경이 각각 경제동기·윤리·이념·환경 문제에 적용된다.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50008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459736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4대 적용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음양합덕 → 경제동기의 회복    신인조화 → 경제윤리의 재생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해원상생 → 경제이념의 조화    도통진경 → 환경위기의 극복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Ⅳ. 순환적 경제관의 가치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Ⅳ.1  음양합덕과 경제동기의 회복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문제 — 경제동기의 상실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자유지상주의가 순환성을 잃어 도박자본주의·경제동기 붕괴를 초래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대순의 해법 — 대대적 자유지상주의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시장 구매의 자유를 넘어 '제도의 기초구조 개혁'이라는 자유로 확장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음양합덕으로 경제동기를 회복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Ⅳ. 순환적 경제관의 가치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Ⅳ.2  신인조화와 경제윤리의 재생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문제 — 경제윤리의 실종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사회계약주의가 순환성을 잃어 분배정의가 무너짐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대순의 해법 — 회귀적 사회계약주의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분배를 순환의 결과로 보아 순환적 분배로 경제윤리를 재생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신인조화로 사회정의를 회복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Ⅳ. 순환적 경제관의 가치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Ⅳ.3  해원상생과 경제이념의 조화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문제 — 경제이념의 분쟁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공리주의가 순환성을 잃어 자본주의–공산주의 이념 대립을 초래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대순의 해법 — 중화적 공리주의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순환적 노동관으로 이념을 중화·조화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해원상생으로 공리를 회복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Ⅳ. 순환적 경제관의 가치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Ⅳ.4  도통진경과 환경위기의 극복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82495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0078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문제 — 환경위기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자연에 대한 배려가 없는 공동체주의가 환경위기·공동체 절멸을 초래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42032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대순의 해법 — 유행적 공동체주의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재화를 순환의 결과로 보아 순환적 재화관으로 환경위기를 극복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도통진경으로 공동체의 원초적 힘을 부활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Ⅳ. 순환적 경제관의 가치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331720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14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C9A04E"/>
                </a:solidFill>
                <a:latin typeface="맑은 고딕"/>
                <a:ea typeface="맑은 고딕"/>
              </a:rPr>
              <a:t>Ⅴ.  </a:t>
            </a: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맺는 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B8C0D8"/>
                </a:solidFill>
                <a:latin typeface="맑은 고딕"/>
                <a:ea typeface="맑은 고딕"/>
              </a:rPr>
              <a:t>Conclusion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394960"/>
            <a:ext cx="2194560" cy="2194560"/>
          </a:xfrm>
          <a:prstGeom prst="ellipse">
            <a:avLst/>
          </a:prstGeom>
          <a:solidFill>
            <a:srgbClr val="2C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B8C0D8"/>
                </a:solidFill>
                <a:latin typeface="맑은 고딕"/>
                <a:ea typeface="맑은 고딕"/>
              </a:rPr>
              <a:t>Ⅴ. 맺는 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0D8"/>
                </a:solidFill>
                <a:latin typeface="맑은 고딕"/>
                <a:ea typeface="맑은 고딕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005840"/>
            <a:ext cx="2377440" cy="2377440"/>
          </a:xfrm>
          <a:prstGeom prst="ellipse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700" b="1" i="0">
                <a:solidFill>
                  <a:srgbClr val="1F2A5A"/>
                </a:solidFill>
                <a:latin typeface="맑은 고딕"/>
                <a:ea typeface="맑은 고딕"/>
              </a:rPr>
              <a:t>Ⅴ. 맺는 말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822960" cy="5080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10698480" cy="566928"/>
          </a:xfrm>
          <a:prstGeom prst="roundRect">
            <a:avLst/>
          </a:prstGeom>
          <a:solidFill>
            <a:srgbClr val="EC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72768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B08D3C"/>
                </a:solidFill>
                <a:latin typeface="맑은 고딕"/>
                <a:ea typeface="맑은 고딕"/>
              </a:rPr>
              <a:t>핵심 요지   </a:t>
            </a:r>
            <a:r>
              <a:rPr sz="1300" b="1" i="0">
                <a:solidFill>
                  <a:srgbClr val="1F2A5A"/>
                </a:solidFill>
                <a:latin typeface="맑은 고딕"/>
                <a:ea typeface="맑은 고딕"/>
              </a:rPr>
              <a:t>유불선·서교의 4대 경제윤리를 순환·상생시켜 4대 경제문제를 함께 해결하는 새로운 경제관.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50008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459736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연구의 요약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음양합덕·신인조화·해원상생·도통진경이 경제동기·윤리·이념·환경을 회복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19272"/>
            <a:ext cx="10698480" cy="1078992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429000"/>
            <a:ext cx="50800" cy="859536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447288"/>
            <a:ext cx="101498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연구의 의의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경제윤리의 기반인 유불선·서교가 상호 순환한다는 최초의 주장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직선적 근대성을 넘어서는 포스트모던 순환의 경제관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99432"/>
            <a:ext cx="10698480" cy="768096"/>
          </a:xfrm>
          <a:prstGeom prst="round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709160"/>
            <a:ext cx="50800" cy="548640"/>
          </a:xfrm>
          <a:prstGeom prst="rect">
            <a:avLst/>
          </a:prstGeom>
          <a:solidFill>
            <a:srgbClr val="B08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27448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1F2A5A"/>
                </a:solidFill>
                <a:latin typeface="맑은 고딕"/>
                <a:ea typeface="맑은 고딕"/>
              </a:rPr>
              <a:t>전망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B08D3C"/>
                </a:solidFill>
                <a:latin typeface="맑은 고딕"/>
                <a:ea typeface="맑은 고딕"/>
              </a:rPr>
              <a:t>•  </a:t>
            </a:r>
            <a:r>
              <a:rPr sz="1250" b="0" i="0">
                <a:solidFill>
                  <a:srgbClr val="353845"/>
                </a:solidFill>
                <a:latin typeface="맑은 고딕"/>
                <a:ea typeface="맑은 고딕"/>
              </a:rPr>
              <a:t>한의학이 혈액순환으로 병을 고치듯, 순환의 회복으로 현대 경제위기를 치유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Ⅴ. 맺는 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FA5"/>
                </a:solidFill>
                <a:latin typeface="맑은 고딕"/>
                <a:ea typeface="맑은 고딕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